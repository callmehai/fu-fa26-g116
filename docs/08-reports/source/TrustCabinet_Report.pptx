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3716000" cy="77152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48" y="-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I. Project Overview</a:t>
            </a:r>
          </a:p>
          <a:p>
            <a:r>
              <a:t>Reference layout: ACCE_Slide.pdf, slides 1–33. Palette: Report 3 source DOCX UI illustrations and frontend/src/styles/global.css.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I.3 Project Stakeholders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I.3 Project Stakeholders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</a:t>
            </a:r>
          </a:p>
          <a:p>
            <a:r>
              <a:t>C:/Users/admin/Documents/GitHub/TrustCabinet/docs/08-reports/Report-2_Project_Management_Plan.md</a:t>
            </a:r>
          </a:p>
          <a:p>
            <a:r>
              <a:t>C:/Users/admin/Documents/GitHub/TrustCabinet/docs/08-reports/Report-3_Software_Requirement_Specification.md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</a:t>
            </a:r>
          </a:p>
          <a:p>
            <a:r>
              <a:t>C:/Users/admin/Documents/GitHub/TrustCabinet/docs/08-reports/source/Report_3_Software_Requirement_Specification.docx — Create Meeting UI illustration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II. Product Background</a:t>
            </a:r>
          </a:p>
          <a:p>
            <a:r>
              <a:t>C:/Users/admin/Documents/GitHub/TrustCabinet/docs/08-reports/source/Report_3_Software_Requirement_Specification.docx — Meeting Detail illustration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II. Product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III. Existing Solutions. This is the project research baseline, not a new market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III. Existing Solutions. This is the project research baseline, not a new market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IV. Proposed Solution</a:t>
            </a:r>
          </a:p>
          <a:p>
            <a:r>
              <a:t>C:/Users/admin/Documents/GitHub/TrustCabinet/docs/08-reports/Report-3_Software_Requirement_Specification.md — FE-10, FE-12; UI image43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IV. Proposed Solution</a:t>
            </a:r>
          </a:p>
          <a:p>
            <a:r>
              <a:t>C:/Users/admin/Documents/GitHub/TrustCabinet/docs/01-requirements/00-master-use-case-inventory.md — lifecycle and dependency 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IV. Proposed Solution</a:t>
            </a:r>
          </a:p>
          <a:p>
            <a:r>
              <a:t>C:/Users/admin/Documents/GitHub/TrustCabinet/docs/01-requirements/00-master-use-case-inventory.md — lifecycle and dependency 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C:/Users/admin/Documents/GitHub/TrustCabinet/docs/08-reports/Report-1_Project_Introduction.md — V.1 Major Features</a:t>
            </a:r>
          </a:p>
          <a:p>
            <a:r>
              <a:t>C:/Users/admin/Documents/GitHub/TrustCabinet/docs/01-requirements/00-master-use-case-inventory.md — revised baseline 10/10/2026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C:/Users/admin/Documents/GitHub/TrustCabinet/docs/08-reports/Report-1_Project_Introduction.md — V. Limitations / Exclusions</a:t>
            </a:r>
          </a:p>
          <a:p>
            <a:r>
              <a:rPr dirty="0"/>
              <a:t>C:/Users/admin/Documents/GitHub/TrustCabinet/docs/01-requirements/00-master-use-case-inventory.md — Outside Use Case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C:/Users/admin/Documents/GitHub/TrustCabinet/docs/08-reports/Report-2_Project_Management_Plan.md</a:t>
            </a:r>
          </a:p>
          <a:p>
            <a:r>
              <a:t>Reference layout: ACCE_Slide.pdf, slides 1–33. Palette: Report 3 source DOCX UI illustrations and frontend/src/styles/global.css. Icon extracted unchanged from supplied PDF page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User-provided Iterative Model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C:/Users/admin/Documents/GitHub/TrustCabinet/docs/08-reports/Report-2_Project_Management_Plan.md — I.3 Cost &amp; Time Estimations; II.1 Iterations. Dates are planned milestones, not completion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C:/Users/admin/Documents/GitHub/TrustCabinet/docs/08-reports/Report-2_Project_Management_Plan.md — I.4 Capacity Planning; II.1 Initial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C:/Users/admin/Documents/GitHub/TrustCabinet/docs/DEVELOPMENT_WORKFLOW.md — Sprint Planning / Review / Responsibilities</a:t>
            </a:r>
          </a:p>
          <a:p>
            <a:r>
              <a:t>C:/Users/admin/Documents/GitHub/TrustCabinet/docs/08-reports/Report-2_Project_Management_Plan.md — Management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C:/Users/admin/Documents/GitHub/TrustCabinet/docs/08-reports/Report-2_Project_Management_Plan.md — Technology and tool baseline</a:t>
            </a:r>
          </a:p>
          <a:p>
            <a:r>
              <a:t>C:/Users/admin/Documents/GitHub/TrustCabinet/docs/08-reports/Report-3_Software_Requirement_Specification.md — IV.1 External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C:/Users/admin/Documents/GitHub/TrustCabinet/docs/DEVELOPMENT_WORKFLOW.md — Team Pipeline / Responsibilities / Review</a:t>
            </a:r>
          </a:p>
          <a:p>
            <a:r>
              <a:t>C:/Users/admin/Documents/GitHub/TrustCabinet/docs/08-reports/Report-2_Project_Management_Plan.md — II.1 Iterative Incremental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C:/Users/admin/Documents/GitHub/TrustCabinet/docs/08-reports/Report-2_Project_Management_Plan.md — I.6 Risks and Mitigations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C:/Users/admin/Documents/GitHub/TrustCabinet/docs/DEVELOPMENT_WORKFLOW.md — Definition of Done</a:t>
            </a:r>
          </a:p>
          <a:p>
            <a:r>
              <a:t>C:/Users/admin/Documents/GitHub/TrustCabinet/.github/workflows/ci.yml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C:/Users/admin/Documents/GitHub/TrustCabinet/docs/DEVELOPMENT_WORKFLOW.md — §2 Pipeline; §2.1 Changing a Requirement; §6 Definition of Done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C:/Users/admin/Documents/GitHub/TrustCabinet/docs/08-reports/Report-3_Software_Requirement_Specification.md</a:t>
            </a:r>
          </a:p>
          <a:p>
            <a:r>
              <a:t>Reference layout: ACCE_Slide.pdf, slides 1–33. Palette: Report 3 source DOCX UI illustrations and frontend/src/styles/global.css. Section illustration extracted unchanged from supplied PDF page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C:/Users/admin/Documents/GitHub/TrustCabinet/docs/08-reports/Report-3_Software_Requirement_Specification.md</a:t>
            </a:r>
          </a:p>
          <a:p>
            <a:r>
              <a:t>C:/Users/admin/Documents/GitHub/TrustCabinet/docs/01-requirements/00-master-use-case-inventory.md — revised baseline 10/10/2026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embedded unchanged from: C:/Users/admin/Documents/GitHub/TrustCabinet/docs/11-contextdiagram/trustcabinet-context.drawio.png</a:t>
            </a:r>
          </a:p>
          <a:p>
            <a:r>
              <a:t>Editable diagram source: C:/Users/admin/Documents/GitHub/TrustCabinet/docs/11-contextdiagram/trustcabinet-context.drawio</a:t>
            </a:r>
          </a:p>
          <a:p>
            <a:r>
              <a:t>Full original image retained without cropping. No source node, transition, relation or label was rewritten.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C:/Users/admin/Documents/GitHub/TrustCabinet/docs/08-reports/source/Report_3_Software_Requirement_Specification.docx — §I.4.3</a:t>
            </a:r>
          </a:p>
          <a:p>
            <a:r>
              <a:t>C:/Users/admin/Documents/GitHub/TrustCabinet/docs/assets/use-case-diagrams/trustcabinet-use-cases.drawio — System Admin page</a:t>
            </a:r>
          </a:p>
          <a:p>
            <a:r>
              <a:t>C:/Users/admin/Documents/GitHub/TrustCabinet/docs/01-requirements/00-master-use-case-inventory.md</a:t>
            </a:r>
          </a:p>
          <a:p>
            <a:r>
              <a:t>Source image is retained in full without cropping.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C:/Users/admin/Documents/GitHub/TrustCabinet/docs/08-reports/source/Report_3_Software_Requirement_Specification.docx — §I.4.3</a:t>
            </a:r>
          </a:p>
          <a:p>
            <a:r>
              <a:t>C:/Users/admin/Documents/GitHub/TrustCabinet/docs/assets/use-case-diagrams/trustcabinet-use-cases.drawio — Meeting Organizer page</a:t>
            </a:r>
          </a:p>
          <a:p>
            <a:r>
              <a:t>C:/Users/admin/Documents/GitHub/TrustCabinet/docs/01-requirements/00-master-use-case-inventory.md</a:t>
            </a:r>
          </a:p>
          <a:p>
            <a:r>
              <a:t>Source image is retained in full without cropping.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C:/Users/admin/Documents/GitHub/TrustCabinet/docs/08-reports/source/Report_3_Software_Requirement_Specification.docx — §I.4.3</a:t>
            </a:r>
          </a:p>
          <a:p>
            <a:r>
              <a:rPr dirty="0"/>
              <a:t>C:/Users/admin/Documents/GitHub/TrustCabinet/docs/assets/use-case-diagrams/trustcabinet-use-cases.drawio — Meeting Approver page</a:t>
            </a:r>
          </a:p>
          <a:p>
            <a:r>
              <a:rPr dirty="0"/>
              <a:t>C:/Users/admin/Documents/GitHub/TrustCabinet/docs/01-requirements/00-master-use-case-inventory.md</a:t>
            </a:r>
          </a:p>
          <a:p>
            <a:r>
              <a:rPr dirty="0"/>
              <a:t>Source image is retained in full without cropping.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C:/Users/admin/Documents/GitHub/TrustCabinet/docs/08-reports/source/Report_3_Software_Requirement_Specification.docx — §I.4.3</a:t>
            </a:r>
          </a:p>
          <a:p>
            <a:r>
              <a:t>C:/Users/admin/Documents/GitHub/TrustCabinet/docs/assets/use-case-diagrams/trustcabinet-use-cases.drawio — Chair page</a:t>
            </a:r>
          </a:p>
          <a:p>
            <a:r>
              <a:t>C:/Users/admin/Documents/GitHub/TrustCabinet/docs/01-requirements/00-master-use-case-inventory.md</a:t>
            </a:r>
          </a:p>
          <a:p>
            <a:r>
              <a:t>Source image is retained in full without cropping.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C:/Users/admin/Documents/GitHub/TrustCabinet/docs/08-reports/source/Report_3_Software_Requirement_Specification.docx — §I.4.3</a:t>
            </a:r>
          </a:p>
          <a:p>
            <a:r>
              <a:t>C:/Users/admin/Documents/GitHub/TrustCabinet/docs/assets/use-case-diagrams/trustcabinet-use-cases.drawio — Secretary page</a:t>
            </a:r>
          </a:p>
          <a:p>
            <a:r>
              <a:t>C:/Users/admin/Documents/GitHub/TrustCabinet/docs/01-requirements/00-master-use-case-inventory.md</a:t>
            </a:r>
          </a:p>
          <a:p>
            <a:r>
              <a:t>Source image is retained in full without cropping.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C:/Users/admin/Documents/GitHub/TrustCabinet/docs/08-reports/source/Report_3_Software_Requirement_Specification.docx — §I.4.3</a:t>
            </a:r>
          </a:p>
          <a:p>
            <a:r>
              <a:t>C:/Users/admin/Documents/GitHub/TrustCabinet/docs/assets/use-case-diagrams/trustcabinet-use-cases.drawio — Participant page</a:t>
            </a:r>
          </a:p>
          <a:p>
            <a:r>
              <a:t>C:/Users/admin/Documents/GitHub/TrustCabinet/docs/01-requirements/00-master-use-case-inventory.md</a:t>
            </a:r>
          </a:p>
          <a:p>
            <a:r>
              <a:t>Source image is retained in full without cropping.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C:/Users/admin/Documents/GitHub/TrustCabinet/docs/08-reports/source/Report_3_Software_Requirement_Specification.docx — §I.4.3</a:t>
            </a:r>
          </a:p>
          <a:p>
            <a:r>
              <a:rPr dirty="0"/>
              <a:t>C:/Users/admin/Documents/GitHub/TrustCabinet/docs/assets/use-case-diagrams/trustcabinet-use-cases.drawio — Guest page</a:t>
            </a:r>
          </a:p>
          <a:p>
            <a:r>
              <a:rPr dirty="0"/>
              <a:t>C:/Users/admin/Documents/GitHub/TrustCabinet/docs/01-requirements/00-master-use-case-inventory.md</a:t>
            </a:r>
          </a:p>
          <a:p>
            <a:r>
              <a:rPr dirty="0"/>
              <a:t>Source image is retained in full without cropping.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C:/Users/admin/Documents/GitHub/TrustCabinet/docs/09-bussinessflow/BF-01_System_Access_Administration.drawio</a:t>
            </a:r>
          </a:p>
          <a:p>
            <a:r>
              <a:t>C:/Users/admin/Documents/GitHub/TrustCabinet/docs/02-design/04-luong-nghiep-vu-chinh.md</a:t>
            </a:r>
          </a:p>
          <a:p>
            <a:r>
              <a:t>C:/Users/admin/Documents/GitHub/TrustCabinet/docs/08-reports/Report-3_Software_Requirement_Specification.md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C:/Users/admin/Documents/GitHub/TrustCabinet/docs/09-bussinessflow/BF-02_Meeting_Preparation_Approval.drawio</a:t>
            </a:r>
          </a:p>
          <a:p>
            <a:r>
              <a:t>C:/Users/admin/Documents/GitHub/TrustCabinet/docs/02-design/04-luong-nghiep-vu-chinh.md</a:t>
            </a:r>
          </a:p>
          <a:p>
            <a:r>
              <a:t>C:/Users/admin/Documents/GitHub/TrustCabinet/docs/08-reports/Report-3_Software_Requirement_Specification.md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C:/Users/admin/Documents/GitHub/TrustCabinet/docs/09-bussinessflow/BF-03_Meeting_Execution_Decision_Making.drawio</a:t>
            </a:r>
          </a:p>
          <a:p>
            <a:r>
              <a:t>C:/Users/admin/Documents/GitHub/TrustCabinet/docs/02-design/04-luong-nghiep-vu-chinh.md</a:t>
            </a:r>
          </a:p>
          <a:p>
            <a:r>
              <a:t>C:/Users/admin/Documents/GitHub/TrustCabinet/docs/08-reports/Report-3_Software_Requirement_Specification.md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C:/Users/admin/Documents/GitHub/TrustCabinet/docs/09-bussinessflow/BF-04_Post_Meeting_Processing_Formal_Records.drawio</a:t>
            </a:r>
          </a:p>
          <a:p>
            <a:r>
              <a:t>C:/Users/admin/Documents/GitHub/TrustCabinet/docs/02-design/04-luong-nghiep-vu-chinh.md</a:t>
            </a:r>
          </a:p>
          <a:p>
            <a:r>
              <a:t>C:/Users/admin/Documents/GitHub/TrustCabinet/docs/08-reports/Report-3_Software_Requirement_Specification.md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embedded unchanged from: C:/Users/admin/Documents/GitHub/TrustCabinet/docs/10-statemachine/SM-01_Meeting.png</a:t>
            </a:r>
          </a:p>
          <a:p>
            <a:r>
              <a:t>Editable diagram source: C:/Users/admin/Documents/GitHub/TrustCabinet/docs/10-statemachine/SM-01_Meeting.drawio</a:t>
            </a:r>
          </a:p>
          <a:p>
            <a:r>
              <a:t>Full original image retained without cropping. No source node, transition, relation or label was rewritten.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embedded unchanged from: C:/Users/admin/Documents/GitHub/TrustCabinet/docs/10-statemachine/SM-02_Agenda.png</a:t>
            </a:r>
          </a:p>
          <a:p>
            <a:r>
              <a:t>Editable diagram source: C:/Users/admin/Documents/GitHub/TrustCabinet/docs/10-statemachine/SM-02_Agenda.drawio</a:t>
            </a:r>
          </a:p>
          <a:p>
            <a:r>
              <a:t>Full original image retained without cropping. No source node, transition, relation or label was rewritten.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embedded unchanged from: C:/Users/admin/Documents/GitHub/TrustCabinet/docs/10-statemachine/SM-13_Minutes.png</a:t>
            </a:r>
          </a:p>
          <a:p>
            <a:r>
              <a:t>Editable diagram source: C:/Users/admin/Documents/GitHub/TrustCabinet/docs/10-statemachine/SM-13_Minutes.drawio</a:t>
            </a:r>
          </a:p>
          <a:p>
            <a:r>
              <a:t>Full original image retained without cropping. No source node, transition, relation or label was rewritten.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embedded unchanged from: C:/Users/admin/Documents/GitHub/TrustCabinet/docs/assets/erd-muc-tieu/trustcabinet-erd-muc-tieu .drawio.png</a:t>
            </a:r>
          </a:p>
          <a:p>
            <a:r>
              <a:t>Editable diagram source: C:/Users/admin/Documents/GitHub/TrustCabinet/docs/assets/erd-muc-tieu/trustcabinet-erd-muc-tieu .drawio</a:t>
            </a:r>
          </a:p>
          <a:p>
            <a:r>
              <a:t>Full original image retained without cropping. No source node, transition, relation or label was rewritten.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C:/Users/admin/Documents/GitHub/TrustCabinet/docs/08-reports/Report-3_Software_Requirement_Specification.md — IV. Non-Functional Requirements. Performance conditions: recommended deployment hardware, up to 100 active users. Transcription duration excludes queue wait and upload transfer. Targets are requirements, not measured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CD3E64-2D73-4347-B099-0227051D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914650"/>
            <a:ext cx="10972800" cy="11144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048820D-99CA-4A1A-8923-89161D66C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243388"/>
            <a:ext cx="9601200" cy="857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8940CB7-A9DA-4F96-A45A-016284A3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214688"/>
            <a:ext cx="10972800" cy="12858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46A29D4-7B6F-4721-9E5F-1F4B2E7D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600075"/>
            <a:ext cx="12172950" cy="9429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019CEF-406C-4BE1-AB0A-3574EB605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5" y="2143125"/>
            <a:ext cx="12172950" cy="480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FDD9EBA-8E03-48FB-8747-9104B829B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600075"/>
            <a:ext cx="12172950" cy="9429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0D763DF-A213-4AC0-B708-2E00BC42D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5" y="2143125"/>
            <a:ext cx="5657850" cy="480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27EFFF9-16CE-4255-94C7-13517ACD60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286625" y="2143125"/>
            <a:ext cx="5657850" cy="480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023A280-B334-4654-AE46-73AA4FB9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600075"/>
            <a:ext cx="12172950" cy="9429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A0CB430-7206-4AB5-A707-5F611379E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525" y="2143125"/>
            <a:ext cx="5657850" cy="480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tive-1">
            <a:extLst>
              <a:ext uri="{FF2B5EF4-FFF2-40B4-BE49-F238E27FC236}">
                <a16:creationId xmlns:a16="http://schemas.microsoft.com/office/drawing/2014/main" id="{1DE865D2-7BEE-496C-8776-CFFBC8485302}"/>
              </a:ext>
            </a:extLst>
          </p:cNvPr>
          <p:cNvSpPr>
            <a:spLocks noGrp="1"/>
          </p:cNvSpPr>
          <p:nvPr/>
        </p:nvSpPr>
        <p:spPr>
          <a:xfrm rot="2700000">
            <a:off x="10301748" y="179171"/>
            <a:ext cx="3524250" cy="3524250"/>
          </a:xfrm>
          <a:prstGeom prst="roundRect">
            <a:avLst>
              <a:gd name="adj" fmla="val 2162"/>
            </a:avLst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native-2">
            <a:extLst>
              <a:ext uri="{FF2B5EF4-FFF2-40B4-BE49-F238E27FC236}">
                <a16:creationId xmlns:a16="http://schemas.microsoft.com/office/drawing/2014/main" id="{5396579A-8CDC-4405-9085-30597C2C7EA3}"/>
              </a:ext>
            </a:extLst>
          </p:cNvPr>
          <p:cNvSpPr>
            <a:spLocks noGrp="1"/>
          </p:cNvSpPr>
          <p:nvPr/>
        </p:nvSpPr>
        <p:spPr>
          <a:xfrm rot="2700000">
            <a:off x="7794277" y="-1303587"/>
            <a:ext cx="2238375" cy="2238375"/>
          </a:xfrm>
          <a:prstGeom prst="roundRect">
            <a:avLst>
              <a:gd name="adj" fmla="val 3404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native-3">
            <a:extLst>
              <a:ext uri="{FF2B5EF4-FFF2-40B4-BE49-F238E27FC236}">
                <a16:creationId xmlns:a16="http://schemas.microsoft.com/office/drawing/2014/main" id="{989F3D3A-C50C-4F29-BD9E-B0811F31726A}"/>
              </a:ext>
            </a:extLst>
          </p:cNvPr>
          <p:cNvSpPr>
            <a:spLocks noGrp="1"/>
          </p:cNvSpPr>
          <p:nvPr/>
        </p:nvSpPr>
        <p:spPr>
          <a:xfrm rot="2700000">
            <a:off x="9524999" y="6517034"/>
            <a:ext cx="2952750" cy="2952750"/>
          </a:xfrm>
          <a:prstGeom prst="roundRect">
            <a:avLst>
              <a:gd name="adj" fmla="val 2581"/>
            </a:avLst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native-4">
            <a:extLst>
              <a:ext uri="{FF2B5EF4-FFF2-40B4-BE49-F238E27FC236}">
                <a16:creationId xmlns:a16="http://schemas.microsoft.com/office/drawing/2014/main" id="{B2F2B3DF-01D7-450C-BC3B-CAA709FBE490}"/>
              </a:ext>
            </a:extLst>
          </p:cNvPr>
          <p:cNvSpPr>
            <a:spLocks noGrp="1"/>
          </p:cNvSpPr>
          <p:nvPr/>
        </p:nvSpPr>
        <p:spPr>
          <a:xfrm>
            <a:off x="809625" y="7429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TrustCabinet</a:t>
            </a:r>
          </a:p>
        </p:txBody>
      </p:sp>
      <p:sp>
        <p:nvSpPr>
          <p:cNvPr id="5" name="native-5">
            <a:extLst>
              <a:ext uri="{FF2B5EF4-FFF2-40B4-BE49-F238E27FC236}">
                <a16:creationId xmlns:a16="http://schemas.microsoft.com/office/drawing/2014/main" id="{A98057DD-8A57-46E7-9DCD-BB5A7FA546BE}"/>
              </a:ext>
            </a:extLst>
          </p:cNvPr>
          <p:cNvSpPr>
            <a:spLocks noGrp="1"/>
          </p:cNvSpPr>
          <p:nvPr/>
        </p:nvSpPr>
        <p:spPr>
          <a:xfrm>
            <a:off x="809625" y="11811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SEP490-G116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870622-4B28-4664-85D0-21E550F2B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67375" y="696664"/>
            <a:ext cx="3000375" cy="1168896"/>
          </a:xfrm>
          <a:prstGeom prst="rect">
            <a:avLst/>
          </a:prstGeom>
        </p:spPr>
      </p:pic>
      <p:sp>
        <p:nvSpPr>
          <p:cNvPr id="7" name="native-6">
            <a:extLst>
              <a:ext uri="{FF2B5EF4-FFF2-40B4-BE49-F238E27FC236}">
                <a16:creationId xmlns:a16="http://schemas.microsoft.com/office/drawing/2014/main" id="{8C743E5C-8626-4DE8-85A9-4C68675C84AE}"/>
              </a:ext>
            </a:extLst>
          </p:cNvPr>
          <p:cNvSpPr>
            <a:spLocks noGrp="1"/>
          </p:cNvSpPr>
          <p:nvPr/>
        </p:nvSpPr>
        <p:spPr>
          <a:xfrm>
            <a:off x="819150" y="3000375"/>
            <a:ext cx="10668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100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100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1D3B78"/>
                </a:solidFill>
                <a:latin typeface="Arial"/>
                <a:ea typeface="Arial"/>
                <a:cs typeface="Arial"/>
              </a:rPr>
              <a:t>TrustCabinet</a:t>
            </a:r>
          </a:p>
        </p:txBody>
      </p:sp>
      <p:sp>
        <p:nvSpPr>
          <p:cNvPr id="8" name="native-7">
            <a:extLst>
              <a:ext uri="{FF2B5EF4-FFF2-40B4-BE49-F238E27FC236}">
                <a16:creationId xmlns:a16="http://schemas.microsoft.com/office/drawing/2014/main" id="{74792DB7-57ED-4B27-80D5-96C60CDD0390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10715625" cy="952500"/>
          </a:xfrm>
          <a:prstGeom prst="roundRect">
            <a:avLst>
              <a:gd name="adj" fmla="val 8000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native-8">
            <a:extLst>
              <a:ext uri="{FF2B5EF4-FFF2-40B4-BE49-F238E27FC236}">
                <a16:creationId xmlns:a16="http://schemas.microsoft.com/office/drawing/2014/main" id="{FF5A497D-C7E5-49DD-9C01-61D4EFD8BB0E}"/>
              </a:ext>
            </a:extLst>
          </p:cNvPr>
          <p:cNvSpPr>
            <a:spLocks noGrp="1"/>
          </p:cNvSpPr>
          <p:nvPr/>
        </p:nvSpPr>
        <p:spPr>
          <a:xfrm>
            <a:off x="1190625" y="4953000"/>
            <a:ext cx="10144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INTERNAL MEETING &amp; DOCUMENT MANAGEMENT SYSTEM</a:t>
            </a:r>
          </a:p>
        </p:txBody>
      </p:sp>
      <p:sp>
        <p:nvSpPr>
          <p:cNvPr id="10" name="native-9">
            <a:extLst>
              <a:ext uri="{FF2B5EF4-FFF2-40B4-BE49-F238E27FC236}">
                <a16:creationId xmlns:a16="http://schemas.microsoft.com/office/drawing/2014/main" id="{06FD7912-FD9E-48E6-8E07-4FE6421E6BDF}"/>
              </a:ext>
            </a:extLst>
          </p:cNvPr>
          <p:cNvSpPr>
            <a:spLocks noGrp="1"/>
          </p:cNvSpPr>
          <p:nvPr/>
        </p:nvSpPr>
        <p:spPr>
          <a:xfrm>
            <a:off x="1190625" y="5324475"/>
            <a:ext cx="1014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TRUSTSOFT COMPANY</a:t>
            </a:r>
          </a:p>
        </p:txBody>
      </p:sp>
      <p:sp>
        <p:nvSpPr>
          <p:cNvPr id="12" name="native-11">
            <a:extLst>
              <a:ext uri="{FF2B5EF4-FFF2-40B4-BE49-F238E27FC236}">
                <a16:creationId xmlns:a16="http://schemas.microsoft.com/office/drawing/2014/main" id="{07F817E7-3D7B-4E13-80AA-CF4CEF6075A1}"/>
              </a:ext>
            </a:extLst>
          </p:cNvPr>
          <p:cNvSpPr>
            <a:spLocks noGrp="1"/>
          </p:cNvSpPr>
          <p:nvPr/>
        </p:nvSpPr>
        <p:spPr>
          <a:xfrm>
            <a:off x="857250" y="6657975"/>
            <a:ext cx="638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Hanoi, 2026</a:t>
            </a:r>
          </a:p>
        </p:txBody>
      </p:sp>
    </p:spTree>
    <p:extLst>
      <p:ext uri="{BB962C8B-B14F-4D97-AF65-F5344CB8AC3E}">
        <p14:creationId xmlns:p14="http://schemas.microsoft.com/office/powerpoint/2010/main" val="13873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native-12">
            <a:extLst>
              <a:ext uri="{FF2B5EF4-FFF2-40B4-BE49-F238E27FC236}">
                <a16:creationId xmlns:a16="http://schemas.microsoft.com/office/drawing/2014/main" id="{66CB8E58-45CC-4BBC-822B-82B8950C5D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native-13">
            <a:extLst>
              <a:ext uri="{FF2B5EF4-FFF2-40B4-BE49-F238E27FC236}">
                <a16:creationId xmlns:a16="http://schemas.microsoft.com/office/drawing/2014/main" id="{B1B03546-6693-40DD-ADA6-792FFB76630B}"/>
              </a:ext>
            </a:extLst>
          </p:cNvPr>
          <p:cNvSpPr>
            <a:spLocks noGrp="1"/>
          </p:cNvSpPr>
          <p:nvPr/>
        </p:nvSpPr>
        <p:spPr>
          <a:xfrm rot="10800000">
            <a:off x="8092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native-14">
            <a:extLst>
              <a:ext uri="{FF2B5EF4-FFF2-40B4-BE49-F238E27FC236}">
                <a16:creationId xmlns:a16="http://schemas.microsoft.com/office/drawing/2014/main" id="{6DAB8749-D5AB-4FE4-93A2-8FC6B7EF4311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native-15">
            <a:extLst>
              <a:ext uri="{FF2B5EF4-FFF2-40B4-BE49-F238E27FC236}">
                <a16:creationId xmlns:a16="http://schemas.microsoft.com/office/drawing/2014/main" id="{72CC39B7-FE9D-49E4-9BE5-07A1F4736311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</a:t>
            </a:r>
          </a:p>
        </p:txBody>
      </p:sp>
      <p:sp>
        <p:nvSpPr>
          <p:cNvPr id="5" name="native-16">
            <a:extLst>
              <a:ext uri="{FF2B5EF4-FFF2-40B4-BE49-F238E27FC236}">
                <a16:creationId xmlns:a16="http://schemas.microsoft.com/office/drawing/2014/main" id="{688A54E8-77F4-4C18-BDA4-91C558F9467A}"/>
              </a:ext>
            </a:extLst>
          </p:cNvPr>
          <p:cNvSpPr>
            <a:spLocks noGrp="1"/>
          </p:cNvSpPr>
          <p:nvPr/>
        </p:nvSpPr>
        <p:spPr>
          <a:xfrm>
            <a:off x="655792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OUR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6" name="native-17">
            <a:extLst>
              <a:ext uri="{FF2B5EF4-FFF2-40B4-BE49-F238E27FC236}">
                <a16:creationId xmlns:a16="http://schemas.microsoft.com/office/drawing/2014/main" id="{F1860C16-BDDE-4830-A434-EC633D28B8F9}"/>
              </a:ext>
            </a:extLst>
          </p:cNvPr>
          <p:cNvSpPr>
            <a:spLocks noGrp="1"/>
          </p:cNvSpPr>
          <p:nvPr/>
        </p:nvSpPr>
        <p:spPr>
          <a:xfrm>
            <a:off x="655792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717252" y="1627632"/>
            <a:ext cx="429768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63556" y="1792224"/>
            <a:ext cx="914400" cy="914400"/>
          </a:xfrm>
          <a:prstGeom prst="rect">
            <a:avLst/>
          </a:prstGeom>
          <a:solidFill>
            <a:srgbClr val="E8F0FA"/>
          </a:solidFill>
          <a:ln w="15875">
            <a:solidFill>
              <a:srgbClr val="2A4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2A4D94"/>
                </a:solidFill>
                <a:latin typeface="Arial"/>
              </a:rPr>
              <a:t>ADD PHOTO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4260" y="1911095"/>
            <a:ext cx="2980944" cy="3108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700" b="1">
                <a:solidFill>
                  <a:srgbClr val="1D3B78"/>
                </a:solidFill>
                <a:latin typeface="Arial"/>
              </a:rPr>
              <a:t>Nguyen Quang Hung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4260" y="2267712"/>
            <a:ext cx="2980944" cy="34747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250" b="0">
                <a:solidFill>
                  <a:srgbClr val="4B5563"/>
                </a:solidFill>
                <a:latin typeface="Arial"/>
              </a:rPr>
              <a:t>Supervisor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1324" y="3182112"/>
            <a:ext cx="3840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67628" y="3410712"/>
            <a:ext cx="841248" cy="841248"/>
          </a:xfrm>
          <a:prstGeom prst="rect">
            <a:avLst/>
          </a:prstGeom>
          <a:solidFill>
            <a:srgbClr val="E8F0FA"/>
          </a:solidFill>
          <a:ln w="15875">
            <a:solidFill>
              <a:srgbClr val="2A4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2A4D94"/>
                </a:solidFill>
                <a:latin typeface="Arial"/>
              </a:rPr>
              <a:t>ADD PHOTO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55180" y="3465576"/>
            <a:ext cx="2596896" cy="3108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550" b="1">
                <a:solidFill>
                  <a:srgbClr val="1D3B78"/>
                </a:solidFill>
                <a:latin typeface="Arial"/>
              </a:rPr>
              <a:t>Dinh Van Toi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55180" y="3822191"/>
            <a:ext cx="2596896" cy="34747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120" b="0">
                <a:solidFill>
                  <a:srgbClr val="4B5563"/>
                </a:solidFill>
                <a:latin typeface="Arial"/>
              </a:rPr>
              <a:t>Product Owner · TrustSoft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45852" y="3182112"/>
            <a:ext cx="3840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92156" y="3410712"/>
            <a:ext cx="841248" cy="841248"/>
          </a:xfrm>
          <a:prstGeom prst="rect">
            <a:avLst/>
          </a:prstGeom>
          <a:solidFill>
            <a:srgbClr val="E8F0FA"/>
          </a:solidFill>
          <a:ln w="15875">
            <a:solidFill>
              <a:srgbClr val="2A4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2A4D94"/>
                </a:solidFill>
                <a:latin typeface="Arial"/>
              </a:rPr>
              <a:t>ADD PHOTO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79708" y="3465576"/>
            <a:ext cx="2596896" cy="3108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550" b="1">
                <a:solidFill>
                  <a:srgbClr val="1D3B78"/>
                </a:solidFill>
                <a:latin typeface="Arial"/>
              </a:rPr>
              <a:t>Tran Viet Hai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9708" y="3822191"/>
            <a:ext cx="2596896" cy="34747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120" b="0">
                <a:solidFill>
                  <a:srgbClr val="4B5563"/>
                </a:solidFill>
                <a:latin typeface="Arial"/>
              </a:rPr>
              <a:t>Team Leader · Frontend Lead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70380" y="3182112"/>
            <a:ext cx="3840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316684" y="3410712"/>
            <a:ext cx="841248" cy="841248"/>
          </a:xfrm>
          <a:prstGeom prst="rect">
            <a:avLst/>
          </a:prstGeom>
          <a:solidFill>
            <a:srgbClr val="E8F0FA"/>
          </a:solidFill>
          <a:ln w="15875">
            <a:solidFill>
              <a:srgbClr val="2A4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2A4D94"/>
                </a:solidFill>
                <a:latin typeface="Arial"/>
              </a:rPr>
              <a:t>ADD PHOTO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04236" y="3465576"/>
            <a:ext cx="2596895" cy="3108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550" b="1">
                <a:solidFill>
                  <a:srgbClr val="1D3B78"/>
                </a:solidFill>
                <a:latin typeface="Arial"/>
              </a:rPr>
              <a:t>Pham Gia Khanh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4236" y="3822191"/>
            <a:ext cx="2596895" cy="34747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120" b="0">
                <a:solidFill>
                  <a:srgbClr val="4B5563"/>
                </a:solidFill>
                <a:latin typeface="Arial"/>
              </a:rPr>
              <a:t>Business Analyst · UI/UX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1324" y="4773168"/>
            <a:ext cx="3840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67628" y="5001768"/>
            <a:ext cx="841248" cy="841248"/>
          </a:xfrm>
          <a:prstGeom prst="rect">
            <a:avLst/>
          </a:prstGeom>
          <a:solidFill>
            <a:srgbClr val="E8F0FA"/>
          </a:solidFill>
          <a:ln w="15875">
            <a:solidFill>
              <a:srgbClr val="2A4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2A4D94"/>
                </a:solidFill>
                <a:latin typeface="Arial"/>
              </a:rPr>
              <a:t>ADD PHOTO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55180" y="5056631"/>
            <a:ext cx="2596896" cy="3108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550" b="1">
                <a:solidFill>
                  <a:srgbClr val="1D3B78"/>
                </a:solidFill>
                <a:latin typeface="Arial"/>
              </a:rPr>
              <a:t>Hoang Duc Loc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55180" y="5413248"/>
            <a:ext cx="2596896" cy="34747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120" b="0">
                <a:solidFill>
                  <a:srgbClr val="4B5563"/>
                </a:solidFill>
                <a:latin typeface="Arial"/>
              </a:rPr>
              <a:t>Backend Lead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45852" y="4773168"/>
            <a:ext cx="3840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092156" y="5001768"/>
            <a:ext cx="841248" cy="841248"/>
          </a:xfrm>
          <a:prstGeom prst="rect">
            <a:avLst/>
          </a:prstGeom>
          <a:solidFill>
            <a:srgbClr val="E8F0FA"/>
          </a:solidFill>
          <a:ln w="15875">
            <a:solidFill>
              <a:srgbClr val="2A4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2A4D94"/>
                </a:solidFill>
                <a:latin typeface="Arial"/>
              </a:rPr>
              <a:t>ADD PHOTO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79708" y="5056631"/>
            <a:ext cx="2596896" cy="3108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550" b="1">
                <a:solidFill>
                  <a:srgbClr val="1D3B78"/>
                </a:solidFill>
                <a:latin typeface="Arial"/>
              </a:rPr>
              <a:t>Nguyen Truong Huy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79708" y="5413248"/>
            <a:ext cx="2596896" cy="34747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120" b="0">
                <a:solidFill>
                  <a:srgbClr val="4B5563"/>
                </a:solidFill>
                <a:latin typeface="Arial"/>
              </a:rPr>
              <a:t>Test Lead · Quality Assurance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70380" y="4773168"/>
            <a:ext cx="3840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316684" y="5001768"/>
            <a:ext cx="841248" cy="841248"/>
          </a:xfrm>
          <a:prstGeom prst="rect">
            <a:avLst/>
          </a:prstGeom>
          <a:solidFill>
            <a:srgbClr val="E8F0FA"/>
          </a:solidFill>
          <a:ln w="15875">
            <a:solidFill>
              <a:srgbClr val="2A4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2A4D94"/>
                </a:solidFill>
                <a:latin typeface="Arial"/>
              </a:rPr>
              <a:t>ADD PHOTO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04236" y="5056631"/>
            <a:ext cx="2596895" cy="310896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550" b="1">
                <a:solidFill>
                  <a:srgbClr val="1D3B78"/>
                </a:solidFill>
                <a:latin typeface="Arial"/>
              </a:rPr>
              <a:t>Nguyen Quang Huy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04236" y="5413248"/>
            <a:ext cx="2596895" cy="347472"/>
          </a:xfrm>
          <a:prstGeom prst="rect">
            <a:avLst/>
          </a:prstGeom>
          <a:noFill/>
        </p:spPr>
        <p:txBody>
          <a:bodyPr wrap="square" lIns="12700" tIns="0" rIns="12700" bIns="0">
            <a:spAutoFit/>
          </a:bodyPr>
          <a:lstStyle/>
          <a:p>
            <a:pPr algn="l"/>
            <a:r>
              <a:rPr sz="1120" b="0">
                <a:solidFill>
                  <a:srgbClr val="4B5563"/>
                </a:solidFill>
                <a:latin typeface="Arial"/>
              </a:rPr>
              <a:t>Architect · Backend · Frontend</a:t>
            </a:r>
          </a:p>
        </p:txBody>
      </p:sp>
    </p:spTree>
    <p:extLst>
      <p:ext uri="{BB962C8B-B14F-4D97-AF65-F5344CB8AC3E}">
        <p14:creationId xmlns:p14="http://schemas.microsoft.com/office/powerpoint/2010/main" val="1994849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tive-39">
            <a:extLst>
              <a:ext uri="{FF2B5EF4-FFF2-40B4-BE49-F238E27FC236}">
                <a16:creationId xmlns:a16="http://schemas.microsoft.com/office/drawing/2014/main" id="{7000E6A8-9D44-4673-B73C-E481C13B8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0">
            <a:extLst>
              <a:ext uri="{FF2B5EF4-FFF2-40B4-BE49-F238E27FC236}">
                <a16:creationId xmlns:a16="http://schemas.microsoft.com/office/drawing/2014/main" id="{8A2D7052-9D63-4FAC-AF00-59AFB4BF76FE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tive-41">
            <a:extLst>
              <a:ext uri="{FF2B5EF4-FFF2-40B4-BE49-F238E27FC236}">
                <a16:creationId xmlns:a16="http://schemas.microsoft.com/office/drawing/2014/main" id="{348FF4BB-1F82-48E3-A7CF-2B4656CB0980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-42">
            <a:extLst>
              <a:ext uri="{FF2B5EF4-FFF2-40B4-BE49-F238E27FC236}">
                <a16:creationId xmlns:a16="http://schemas.microsoft.com/office/drawing/2014/main" id="{08CEEF4D-B636-4A73-ADDF-94601EA9CDEC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</a:t>
            </a:r>
          </a:p>
        </p:txBody>
      </p:sp>
      <p:sp>
        <p:nvSpPr>
          <p:cNvPr id="7" name="native-43">
            <a:extLst>
              <a:ext uri="{FF2B5EF4-FFF2-40B4-BE49-F238E27FC236}">
                <a16:creationId xmlns:a16="http://schemas.microsoft.com/office/drawing/2014/main" id="{F677B0E5-EC36-4859-B59D-52224B93CD5D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PROJECT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ORGANIZATION</a:t>
            </a:r>
          </a:p>
        </p:txBody>
      </p:sp>
      <p:sp>
        <p:nvSpPr>
          <p:cNvPr id="8" name="native-44">
            <a:extLst>
              <a:ext uri="{FF2B5EF4-FFF2-40B4-BE49-F238E27FC236}">
                <a16:creationId xmlns:a16="http://schemas.microsoft.com/office/drawing/2014/main" id="{E3C27E0C-65A0-417F-99F3-4B46BAC8E057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ative-45">
            <a:extLst>
              <a:ext uri="{FF2B5EF4-FFF2-40B4-BE49-F238E27FC236}">
                <a16:creationId xmlns:a16="http://schemas.microsoft.com/office/drawing/2014/main" id="{45255FD7-FC4E-45E6-A8CB-4F16B214F8D1}"/>
              </a:ext>
            </a:extLst>
          </p:cNvPr>
          <p:cNvSpPr>
            <a:spLocks noGrp="1"/>
          </p:cNvSpPr>
          <p:nvPr/>
        </p:nvSpPr>
        <p:spPr>
          <a:xfrm>
            <a:off x="2560320" y="1828800"/>
            <a:ext cx="4023360" cy="914400"/>
          </a:xfrm>
          <a:prstGeom prst="roundRect">
            <a:avLst>
              <a:gd name="adj" fmla="val 7619"/>
            </a:avLst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</a:t>
            </a:r>
          </a:p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Nguyen Quang Hung</a:t>
            </a:r>
          </a:p>
        </p:txBody>
      </p:sp>
      <p:sp>
        <p:nvSpPr>
          <p:cNvPr id="10" name="native-45">
            <a:extLst>
              <a:ext uri="{FF2B5EF4-FFF2-40B4-BE49-F238E27FC236}">
                <a16:creationId xmlns:a16="http://schemas.microsoft.com/office/drawing/2014/main" id="{45255FD7-FC4E-45E6-A8CB-4F16B214F8D1}"/>
              </a:ext>
            </a:extLst>
          </p:cNvPr>
          <p:cNvSpPr>
            <a:spLocks noGrp="1"/>
          </p:cNvSpPr>
          <p:nvPr/>
        </p:nvSpPr>
        <p:spPr>
          <a:xfrm>
            <a:off x="7132320" y="1828800"/>
            <a:ext cx="4023360" cy="914400"/>
          </a:xfrm>
          <a:prstGeom prst="roundRect">
            <a:avLst>
              <a:gd name="adj" fmla="val 7619"/>
            </a:avLst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OWNER (TRUSTSOFT)</a:t>
            </a:r>
          </a:p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Dinh Van Toi</a:t>
            </a:r>
          </a:p>
        </p:txBody>
      </p:sp>
      <p:sp>
        <p:nvSpPr>
          <p:cNvPr id="11" name="native-46">
            <a:extLst>
              <a:ext uri="{FF2B5EF4-FFF2-40B4-BE49-F238E27FC236}">
                <a16:creationId xmlns:a16="http://schemas.microsoft.com/office/drawing/2014/main" id="{D06E1D60-02CB-4D3A-AC12-A3053962F3AC}"/>
              </a:ext>
            </a:extLst>
          </p:cNvPr>
          <p:cNvSpPr>
            <a:spLocks noGrp="1"/>
          </p:cNvSpPr>
          <p:nvPr/>
        </p:nvSpPr>
        <p:spPr>
          <a:xfrm>
            <a:off x="4663440" y="3429000"/>
            <a:ext cx="4389120" cy="868680"/>
          </a:xfrm>
          <a:prstGeom prst="roundRect">
            <a:avLst>
              <a:gd name="adj" fmla="val 8889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TEAM LEADER / FRONTEND LEAD</a:t>
            </a:r>
          </a:p>
          <a:p>
            <a:pPr algn="ctr">
              <a:defRPr sz="18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Tran Viet Hai</a:t>
            </a:r>
          </a:p>
        </p:txBody>
      </p:sp>
      <p:sp>
        <p:nvSpPr>
          <p:cNvPr id="12" name="native-47">
            <a:extLst>
              <a:ext uri="{FF2B5EF4-FFF2-40B4-BE49-F238E27FC236}">
                <a16:creationId xmlns:a16="http://schemas.microsoft.com/office/drawing/2014/main" id="{18C40F1A-F94D-433A-AB49-794DD12E6BD2}"/>
              </a:ext>
            </a:extLst>
          </p:cNvPr>
          <p:cNvSpPr>
            <a:spLocks noGrp="1"/>
          </p:cNvSpPr>
          <p:nvPr/>
        </p:nvSpPr>
        <p:spPr>
          <a:xfrm>
            <a:off x="708660" y="5257800"/>
            <a:ext cx="2834640" cy="1051560"/>
          </a:xfrm>
          <a:prstGeom prst="roundRect">
            <a:avLst>
              <a:gd name="adj" fmla="val 7477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BUSINESS ANALYST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Pham Gia Khanh</a:t>
            </a:r>
          </a:p>
        </p:txBody>
      </p:sp>
      <p:sp>
        <p:nvSpPr>
          <p:cNvPr id="13" name="native-48">
            <a:extLst>
              <a:ext uri="{FF2B5EF4-FFF2-40B4-BE49-F238E27FC236}">
                <a16:creationId xmlns:a16="http://schemas.microsoft.com/office/drawing/2014/main" id="{4F0D605A-1510-4CC5-995A-7243095152C8}"/>
              </a:ext>
            </a:extLst>
          </p:cNvPr>
          <p:cNvSpPr>
            <a:spLocks noGrp="1"/>
          </p:cNvSpPr>
          <p:nvPr/>
        </p:nvSpPr>
        <p:spPr>
          <a:xfrm>
            <a:off x="3863340" y="5257800"/>
            <a:ext cx="2834640" cy="1051560"/>
          </a:xfrm>
          <a:prstGeom prst="roundRect">
            <a:avLst>
              <a:gd name="adj" fmla="val 7477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BACKEND LEAD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Hoang Duc Loc</a:t>
            </a:r>
          </a:p>
        </p:txBody>
      </p:sp>
      <p:sp>
        <p:nvSpPr>
          <p:cNvPr id="14" name="native-49">
            <a:extLst>
              <a:ext uri="{FF2B5EF4-FFF2-40B4-BE49-F238E27FC236}">
                <a16:creationId xmlns:a16="http://schemas.microsoft.com/office/drawing/2014/main" id="{60246301-432D-491D-B565-1AD5CB2F2C31}"/>
              </a:ext>
            </a:extLst>
          </p:cNvPr>
          <p:cNvSpPr>
            <a:spLocks noGrp="1"/>
          </p:cNvSpPr>
          <p:nvPr/>
        </p:nvSpPr>
        <p:spPr>
          <a:xfrm>
            <a:off x="10172700" y="5257800"/>
            <a:ext cx="2834640" cy="1051560"/>
          </a:xfrm>
          <a:prstGeom prst="roundRect">
            <a:avLst>
              <a:gd name="adj" fmla="val 7477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ARCHITECT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Nguyen Quang Huy</a:t>
            </a:r>
          </a:p>
        </p:txBody>
      </p:sp>
      <p:sp>
        <p:nvSpPr>
          <p:cNvPr id="15" name="native-50">
            <a:extLst>
              <a:ext uri="{FF2B5EF4-FFF2-40B4-BE49-F238E27FC236}">
                <a16:creationId xmlns:a16="http://schemas.microsoft.com/office/drawing/2014/main" id="{DC8A0AE7-5850-45C4-A0E9-8416AF454139}"/>
              </a:ext>
            </a:extLst>
          </p:cNvPr>
          <p:cNvSpPr>
            <a:spLocks noGrp="1"/>
          </p:cNvSpPr>
          <p:nvPr/>
        </p:nvSpPr>
        <p:spPr>
          <a:xfrm>
            <a:off x="7018020" y="5257800"/>
            <a:ext cx="2834640" cy="1051560"/>
          </a:xfrm>
          <a:prstGeom prst="roundRect">
            <a:avLst>
              <a:gd name="adj" fmla="val 7477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TEST LEAD / QA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Nguyen Truong Huy</a:t>
            </a:r>
          </a:p>
        </p:txBody>
      </p:sp>
      <p:sp>
        <p:nvSpPr>
          <p:cNvPr id="16" name="native-52">
            <a:extLst>
              <a:ext uri="{FF2B5EF4-FFF2-40B4-BE49-F238E27FC236}">
                <a16:creationId xmlns:a16="http://schemas.microsoft.com/office/drawing/2014/main" id="{8581929E-80A9-4BFA-9FF6-15678B8837F9}"/>
              </a:ext>
            </a:extLst>
          </p:cNvPr>
          <p:cNvSpPr>
            <a:spLocks noGrp="1"/>
          </p:cNvSpPr>
          <p:nvPr/>
        </p:nvSpPr>
        <p:spPr>
          <a:xfrm>
            <a:off x="667512" y="6720840"/>
            <a:ext cx="54864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Five-member delivery team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4572000" y="2743200"/>
            <a:ext cx="1" cy="347471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9144000" y="2743200"/>
            <a:ext cx="1" cy="347471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4572000" y="3090672"/>
            <a:ext cx="4572000" cy="1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6858000" y="3090672"/>
            <a:ext cx="1" cy="338328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6858000" y="4297680"/>
            <a:ext cx="1" cy="502919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2125980" y="4800600"/>
            <a:ext cx="9464040" cy="1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2125980" y="4800600"/>
            <a:ext cx="1" cy="45720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5280660" y="4800600"/>
            <a:ext cx="1" cy="45720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8435340" y="4800600"/>
            <a:ext cx="1" cy="45720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B86978-51E2-45F9-814A-21934DFC300A}"/>
              </a:ext>
            </a:extLst>
          </p:cNvPr>
          <p:cNvCxnSpPr/>
          <p:nvPr/>
        </p:nvCxnSpPr>
        <p:spPr>
          <a:xfrm>
            <a:off x="11590020" y="4800600"/>
            <a:ext cx="1" cy="45720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40885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ative-53">
            <a:extLst>
              <a:ext uri="{FF2B5EF4-FFF2-40B4-BE49-F238E27FC236}">
                <a16:creationId xmlns:a16="http://schemas.microsoft.com/office/drawing/2014/main" id="{F280DCFB-F55D-4281-BA93-8595AF90E7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54">
            <a:extLst>
              <a:ext uri="{FF2B5EF4-FFF2-40B4-BE49-F238E27FC236}">
                <a16:creationId xmlns:a16="http://schemas.microsoft.com/office/drawing/2014/main" id="{88E751E7-7CB1-40C0-B120-98517ADC90BB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55">
            <a:extLst>
              <a:ext uri="{FF2B5EF4-FFF2-40B4-BE49-F238E27FC236}">
                <a16:creationId xmlns:a16="http://schemas.microsoft.com/office/drawing/2014/main" id="{64C9BF60-72DD-42F3-8635-318977472C07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56">
            <a:extLst>
              <a:ext uri="{FF2B5EF4-FFF2-40B4-BE49-F238E27FC236}">
                <a16:creationId xmlns:a16="http://schemas.microsoft.com/office/drawing/2014/main" id="{BEFD4743-1C60-4DCA-840D-B68B46AB37F1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4</a:t>
            </a:r>
          </a:p>
        </p:txBody>
      </p:sp>
      <p:sp>
        <p:nvSpPr>
          <p:cNvPr id="5" name="native-57">
            <a:extLst>
              <a:ext uri="{FF2B5EF4-FFF2-40B4-BE49-F238E27FC236}">
                <a16:creationId xmlns:a16="http://schemas.microsoft.com/office/drawing/2014/main" id="{2A0D16EB-4E4A-462A-A6DF-4A96B85BA525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Table of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6" name="native-58">
            <a:extLst>
              <a:ext uri="{FF2B5EF4-FFF2-40B4-BE49-F238E27FC236}">
                <a16:creationId xmlns:a16="http://schemas.microsoft.com/office/drawing/2014/main" id="{1C841A9B-FA8C-4C8B-84A7-A7F806FC1A85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59">
            <a:extLst>
              <a:ext uri="{FF2B5EF4-FFF2-40B4-BE49-F238E27FC236}">
                <a16:creationId xmlns:a16="http://schemas.microsoft.com/office/drawing/2014/main" id="{27B52A7F-C495-4A44-9DB8-4E604B6B4DA1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876300" cy="876300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" name="native-60">
            <a:extLst>
              <a:ext uri="{FF2B5EF4-FFF2-40B4-BE49-F238E27FC236}">
                <a16:creationId xmlns:a16="http://schemas.microsoft.com/office/drawing/2014/main" id="{C18AFDBD-D8CE-4B06-A5A9-327951B0E5E9}"/>
              </a:ext>
            </a:extLst>
          </p:cNvPr>
          <p:cNvSpPr>
            <a:spLocks noGrp="1"/>
          </p:cNvSpPr>
          <p:nvPr/>
        </p:nvSpPr>
        <p:spPr>
          <a:xfrm>
            <a:off x="2143125" y="2219325"/>
            <a:ext cx="10572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PROJECT INTRODUCTION</a:t>
            </a:r>
          </a:p>
        </p:txBody>
      </p:sp>
      <p:sp>
        <p:nvSpPr>
          <p:cNvPr id="9" name="native-61">
            <a:extLst>
              <a:ext uri="{FF2B5EF4-FFF2-40B4-BE49-F238E27FC236}">
                <a16:creationId xmlns:a16="http://schemas.microsoft.com/office/drawing/2014/main" id="{BDEA674D-3714-4BBF-AC19-E0B331E3A480}"/>
              </a:ext>
            </a:extLst>
          </p:cNvPr>
          <p:cNvSpPr>
            <a:spLocks noGrp="1"/>
          </p:cNvSpPr>
          <p:nvPr/>
        </p:nvSpPr>
        <p:spPr>
          <a:xfrm>
            <a:off x="2143125" y="275272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Business context and product scope</a:t>
            </a:r>
          </a:p>
        </p:txBody>
      </p:sp>
      <p:sp>
        <p:nvSpPr>
          <p:cNvPr id="10" name="native-62">
            <a:extLst>
              <a:ext uri="{FF2B5EF4-FFF2-40B4-BE49-F238E27FC236}">
                <a16:creationId xmlns:a16="http://schemas.microsoft.com/office/drawing/2014/main" id="{EF0158E2-5754-4FBE-AC15-662534DA3A95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876300" cy="876300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11" name="native-63">
            <a:extLst>
              <a:ext uri="{FF2B5EF4-FFF2-40B4-BE49-F238E27FC236}">
                <a16:creationId xmlns:a16="http://schemas.microsoft.com/office/drawing/2014/main" id="{00EB5F00-CA47-4D8F-BCBD-71633E1F8160}"/>
              </a:ext>
            </a:extLst>
          </p:cNvPr>
          <p:cNvSpPr>
            <a:spLocks noGrp="1"/>
          </p:cNvSpPr>
          <p:nvPr/>
        </p:nvSpPr>
        <p:spPr>
          <a:xfrm>
            <a:off x="2143125" y="3790950"/>
            <a:ext cx="10572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PROJECT MANAGEMENT PLAN</a:t>
            </a:r>
          </a:p>
        </p:txBody>
      </p:sp>
      <p:sp>
        <p:nvSpPr>
          <p:cNvPr id="12" name="native-64">
            <a:extLst>
              <a:ext uri="{FF2B5EF4-FFF2-40B4-BE49-F238E27FC236}">
                <a16:creationId xmlns:a16="http://schemas.microsoft.com/office/drawing/2014/main" id="{2EAF1E1A-8BA1-4DF2-8C01-613460330987}"/>
              </a:ext>
            </a:extLst>
          </p:cNvPr>
          <p:cNvSpPr>
            <a:spLocks noGrp="1"/>
          </p:cNvSpPr>
          <p:nvPr/>
        </p:nvSpPr>
        <p:spPr>
          <a:xfrm>
            <a:off x="2143125" y="43243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Delivery plan, coordination and quality</a:t>
            </a:r>
          </a:p>
        </p:txBody>
      </p:sp>
      <p:sp>
        <p:nvSpPr>
          <p:cNvPr id="13" name="native-65">
            <a:extLst>
              <a:ext uri="{FF2B5EF4-FFF2-40B4-BE49-F238E27FC236}">
                <a16:creationId xmlns:a16="http://schemas.microsoft.com/office/drawing/2014/main" id="{F0587FFB-B9D1-4DA1-98CF-6B3010CD34E5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876300" cy="876300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III</a:t>
            </a:r>
          </a:p>
        </p:txBody>
      </p:sp>
      <p:sp>
        <p:nvSpPr>
          <p:cNvPr id="14" name="native-66">
            <a:extLst>
              <a:ext uri="{FF2B5EF4-FFF2-40B4-BE49-F238E27FC236}">
                <a16:creationId xmlns:a16="http://schemas.microsoft.com/office/drawing/2014/main" id="{3032CCDF-6D0E-40CE-AFDE-404243842AEE}"/>
              </a:ext>
            </a:extLst>
          </p:cNvPr>
          <p:cNvSpPr>
            <a:spLocks noGrp="1"/>
          </p:cNvSpPr>
          <p:nvPr/>
        </p:nvSpPr>
        <p:spPr>
          <a:xfrm>
            <a:off x="2143125" y="5362575"/>
            <a:ext cx="10572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SOFTWARE REQUIREMENT SPECIFICATION</a:t>
            </a:r>
          </a:p>
        </p:txBody>
      </p:sp>
      <p:sp>
        <p:nvSpPr>
          <p:cNvPr id="15" name="native-67">
            <a:extLst>
              <a:ext uri="{FF2B5EF4-FFF2-40B4-BE49-F238E27FC236}">
                <a16:creationId xmlns:a16="http://schemas.microsoft.com/office/drawing/2014/main" id="{DB815500-AA9F-4926-BEFE-760DBDA0B91C}"/>
              </a:ext>
            </a:extLst>
          </p:cNvPr>
          <p:cNvSpPr>
            <a:spLocks noGrp="1"/>
          </p:cNvSpPr>
          <p:nvPr/>
        </p:nvSpPr>
        <p:spPr>
          <a:xfrm>
            <a:off x="2143125" y="5895975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Context, use cases, workflows and quality targets</a:t>
            </a:r>
          </a:p>
        </p:txBody>
      </p:sp>
    </p:spTree>
    <p:extLst>
      <p:ext uri="{BB962C8B-B14F-4D97-AF65-F5344CB8AC3E}">
        <p14:creationId xmlns:p14="http://schemas.microsoft.com/office/powerpoint/2010/main" val="1560282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native-68">
            <a:extLst>
              <a:ext uri="{FF2B5EF4-FFF2-40B4-BE49-F238E27FC236}">
                <a16:creationId xmlns:a16="http://schemas.microsoft.com/office/drawing/2014/main" id="{693C5DA1-24D6-43D3-9B5A-071D648D7B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native-69">
            <a:extLst>
              <a:ext uri="{FF2B5EF4-FFF2-40B4-BE49-F238E27FC236}">
                <a16:creationId xmlns:a16="http://schemas.microsoft.com/office/drawing/2014/main" id="{4B206C01-ADDC-4E28-8AA8-C9F67F3BE566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native-70">
            <a:extLst>
              <a:ext uri="{FF2B5EF4-FFF2-40B4-BE49-F238E27FC236}">
                <a16:creationId xmlns:a16="http://schemas.microsoft.com/office/drawing/2014/main" id="{AE133C83-B965-44AB-80B1-8F733F39EF6B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2333625" cy="2381250"/>
          </a:xfrm>
          <a:prstGeom prst="rtTriangle">
            <a:avLst/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native-71">
            <a:extLst>
              <a:ext uri="{FF2B5EF4-FFF2-40B4-BE49-F238E27FC236}">
                <a16:creationId xmlns:a16="http://schemas.microsoft.com/office/drawing/2014/main" id="{97CA09FA-ECF3-406A-BDC3-ACC6D1D4EA54}"/>
              </a:ext>
            </a:extLst>
          </p:cNvPr>
          <p:cNvSpPr>
            <a:spLocks noGrp="1"/>
          </p:cNvSpPr>
          <p:nvPr/>
        </p:nvSpPr>
        <p:spPr>
          <a:xfrm rot="16200000">
            <a:off x="11525250" y="5238750"/>
            <a:ext cx="2190750" cy="247650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native-72">
            <a:extLst>
              <a:ext uri="{FF2B5EF4-FFF2-40B4-BE49-F238E27FC236}">
                <a16:creationId xmlns:a16="http://schemas.microsoft.com/office/drawing/2014/main" id="{025B76D6-BBA9-4B43-B53B-802C58FEEB44}"/>
              </a:ext>
            </a:extLst>
          </p:cNvPr>
          <p:cNvSpPr>
            <a:spLocks noGrp="1"/>
          </p:cNvSpPr>
          <p:nvPr/>
        </p:nvSpPr>
        <p:spPr>
          <a:xfrm>
            <a:off x="781050" y="7486650"/>
            <a:ext cx="11953875" cy="400050"/>
          </a:xfrm>
          <a:prstGeom prst="roundRect">
            <a:avLst>
              <a:gd name="adj" fmla="val 19048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native-73">
            <a:extLst>
              <a:ext uri="{FF2B5EF4-FFF2-40B4-BE49-F238E27FC236}">
                <a16:creationId xmlns:a16="http://schemas.microsoft.com/office/drawing/2014/main" id="{21A44404-A849-42C8-91FC-ECB574E2D585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5</a:t>
            </a:r>
          </a:p>
        </p:txBody>
      </p:sp>
      <p:sp>
        <p:nvSpPr>
          <p:cNvPr id="7" name="native-74">
            <a:extLst>
              <a:ext uri="{FF2B5EF4-FFF2-40B4-BE49-F238E27FC236}">
                <a16:creationId xmlns:a16="http://schemas.microsoft.com/office/drawing/2014/main" id="{552CB2FA-CD7D-449C-A8F0-027B181B1560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I. PROJECT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8" name="native-75">
            <a:extLst>
              <a:ext uri="{FF2B5EF4-FFF2-40B4-BE49-F238E27FC236}">
                <a16:creationId xmlns:a16="http://schemas.microsoft.com/office/drawing/2014/main" id="{A8C3DA0F-55E2-47DC-B160-C51634141CF5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native-76">
            <a:extLst>
              <a:ext uri="{FF2B5EF4-FFF2-40B4-BE49-F238E27FC236}">
                <a16:creationId xmlns:a16="http://schemas.microsoft.com/office/drawing/2014/main" id="{78A937D2-EEFE-436B-B673-48F889F2D53D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5000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01. Project Background</a:t>
            </a:r>
          </a:p>
        </p:txBody>
      </p:sp>
      <p:sp>
        <p:nvSpPr>
          <p:cNvPr id="10" name="native-77">
            <a:extLst>
              <a:ext uri="{FF2B5EF4-FFF2-40B4-BE49-F238E27FC236}">
                <a16:creationId xmlns:a16="http://schemas.microsoft.com/office/drawing/2014/main" id="{98F02373-26FA-4ED7-9EAB-F4613AFD2C09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4810125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native-78">
            <a:extLst>
              <a:ext uri="{FF2B5EF4-FFF2-40B4-BE49-F238E27FC236}">
                <a16:creationId xmlns:a16="http://schemas.microsoft.com/office/drawing/2014/main" id="{FEE5D20B-8422-4628-A356-9984C370BE21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5000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02. Existing Solutions</a:t>
            </a:r>
          </a:p>
        </p:txBody>
      </p:sp>
      <p:sp>
        <p:nvSpPr>
          <p:cNvPr id="12" name="native-79">
            <a:extLst>
              <a:ext uri="{FF2B5EF4-FFF2-40B4-BE49-F238E27FC236}">
                <a16:creationId xmlns:a16="http://schemas.microsoft.com/office/drawing/2014/main" id="{3E622153-288C-4F33-99F5-96B99DE6569F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4810125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native-80">
            <a:extLst>
              <a:ext uri="{FF2B5EF4-FFF2-40B4-BE49-F238E27FC236}">
                <a16:creationId xmlns:a16="http://schemas.microsoft.com/office/drawing/2014/main" id="{60498E7C-F75E-49B0-AB6B-0E048F442669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5000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03. Our Solution</a:t>
            </a:r>
          </a:p>
        </p:txBody>
      </p:sp>
      <p:sp>
        <p:nvSpPr>
          <p:cNvPr id="14" name="native-81">
            <a:extLst>
              <a:ext uri="{FF2B5EF4-FFF2-40B4-BE49-F238E27FC236}">
                <a16:creationId xmlns:a16="http://schemas.microsoft.com/office/drawing/2014/main" id="{AA4ED48F-CCA4-4B9D-AE58-0DDC2821C299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810125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native-82">
            <a:extLst>
              <a:ext uri="{FF2B5EF4-FFF2-40B4-BE49-F238E27FC236}">
                <a16:creationId xmlns:a16="http://schemas.microsoft.com/office/drawing/2014/main" id="{8471C499-BE08-412F-85BB-4F24A790B91A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5000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04. Major Features</a:t>
            </a:r>
          </a:p>
        </p:txBody>
      </p:sp>
      <p:sp>
        <p:nvSpPr>
          <p:cNvPr id="16" name="native-83">
            <a:extLst>
              <a:ext uri="{FF2B5EF4-FFF2-40B4-BE49-F238E27FC236}">
                <a16:creationId xmlns:a16="http://schemas.microsoft.com/office/drawing/2014/main" id="{07D8E17E-2330-41C5-8732-5DDCECEA975D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4810125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native-84">
            <a:extLst>
              <a:ext uri="{FF2B5EF4-FFF2-40B4-BE49-F238E27FC236}">
                <a16:creationId xmlns:a16="http://schemas.microsoft.com/office/drawing/2014/main" id="{58C8E589-A731-4783-9411-F01A8D3B198E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50006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05. Out of Scope</a:t>
            </a:r>
          </a:p>
        </p:txBody>
      </p:sp>
      <p:sp>
        <p:nvSpPr>
          <p:cNvPr id="18" name="native-85">
            <a:extLst>
              <a:ext uri="{FF2B5EF4-FFF2-40B4-BE49-F238E27FC236}">
                <a16:creationId xmlns:a16="http://schemas.microsoft.com/office/drawing/2014/main" id="{19A20B64-9276-48A5-88A9-9BEFB7365854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4810125" cy="0"/>
          </a:xfrm>
          <a:prstGeom prst="line">
            <a:avLst/>
          </a:prstGeom>
          <a:noFill/>
          <a:ln w="9525">
            <a:solidFill>
              <a:srgbClr val="4B55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ProjectInfoCard"/>
          <p:cNvSpPr/>
          <p:nvPr/>
        </p:nvSpPr>
        <p:spPr>
          <a:xfrm>
            <a:off x="6071616" y="1911095"/>
            <a:ext cx="6748272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8575">
            <a:solidFill>
              <a:srgbClr val="2A4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ProjectInfoHeading"/>
          <p:cNvSpPr txBox="1"/>
          <p:nvPr/>
        </p:nvSpPr>
        <p:spPr>
          <a:xfrm>
            <a:off x="6437376" y="2185415"/>
            <a:ext cx="6016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A4D94"/>
                </a:solidFill>
                <a:latin typeface="Arial"/>
              </a:rPr>
              <a:t>PROJECT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688335"/>
            <a:ext cx="17373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Arial"/>
              </a:rPr>
              <a:t>English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2688335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2433"/>
                </a:solidFill>
                <a:latin typeface="Arial"/>
              </a:rPr>
              <a:t>TrustCabinet — Internal Meeting and Document Management System for TrustSoft Company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401567"/>
            <a:ext cx="17373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Arial"/>
              </a:rPr>
              <a:t>Vietnamese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3401567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2433"/>
                </a:solidFill>
                <a:latin typeface="Arial"/>
              </a:rPr>
              <a:t>TrustCabinet – Hệ thống quản lý cuộc họp và tài liệu nội bộ cho Công ty TrustSoft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14799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Arial"/>
              </a:rPr>
              <a:t>Project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4114799"/>
            <a:ext cx="4233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2433"/>
                </a:solidFill>
                <a:latin typeface="Arial"/>
              </a:rPr>
              <a:t>IMDMS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4571999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Arial"/>
              </a:rPr>
              <a:t>Group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4571999"/>
            <a:ext cx="4233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2433"/>
                </a:solidFill>
                <a:latin typeface="Arial"/>
              </a:rPr>
              <a:t>SEP490-G116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029199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Arial"/>
              </a:rPr>
              <a:t>Software 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5029199"/>
            <a:ext cx="4233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A2433"/>
                </a:solidFill>
                <a:latin typeface="Arial"/>
              </a:rPr>
              <a:t>Web App</a:t>
            </a:r>
          </a:p>
        </p:txBody>
      </p:sp>
    </p:spTree>
    <p:extLst>
      <p:ext uri="{BB962C8B-B14F-4D97-AF65-F5344CB8AC3E}">
        <p14:creationId xmlns:p14="http://schemas.microsoft.com/office/powerpoint/2010/main" val="1360928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ative-88">
            <a:extLst>
              <a:ext uri="{FF2B5EF4-FFF2-40B4-BE49-F238E27FC236}">
                <a16:creationId xmlns:a16="http://schemas.microsoft.com/office/drawing/2014/main" id="{8F7415D1-AE68-45F9-9E51-F54FEA08A2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native-89">
            <a:extLst>
              <a:ext uri="{FF2B5EF4-FFF2-40B4-BE49-F238E27FC236}">
                <a16:creationId xmlns:a16="http://schemas.microsoft.com/office/drawing/2014/main" id="{A2475D89-E402-4E1E-84AC-A914500E7790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native-90">
            <a:extLst>
              <a:ext uri="{FF2B5EF4-FFF2-40B4-BE49-F238E27FC236}">
                <a16:creationId xmlns:a16="http://schemas.microsoft.com/office/drawing/2014/main" id="{2FE4FC33-900D-4E03-857F-46AA7FB5B905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native-91">
            <a:extLst>
              <a:ext uri="{FF2B5EF4-FFF2-40B4-BE49-F238E27FC236}">
                <a16:creationId xmlns:a16="http://schemas.microsoft.com/office/drawing/2014/main" id="{8D96F91A-5110-4283-9B99-51952D2AE7C2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6</a:t>
            </a:r>
          </a:p>
        </p:txBody>
      </p:sp>
      <p:sp>
        <p:nvSpPr>
          <p:cNvPr id="5" name="native-92">
            <a:extLst>
              <a:ext uri="{FF2B5EF4-FFF2-40B4-BE49-F238E27FC236}">
                <a16:creationId xmlns:a16="http://schemas.microsoft.com/office/drawing/2014/main" id="{65F4BC3E-56AC-4D54-802E-0C1306273786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01. Project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6" name="native-93">
            <a:extLst>
              <a:ext uri="{FF2B5EF4-FFF2-40B4-BE49-F238E27FC236}">
                <a16:creationId xmlns:a16="http://schemas.microsoft.com/office/drawing/2014/main" id="{20AD012F-D3AF-4449-81E0-174E3D829C0F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ative-94">
            <a:extLst>
              <a:ext uri="{FF2B5EF4-FFF2-40B4-BE49-F238E27FC236}">
                <a16:creationId xmlns:a16="http://schemas.microsoft.com/office/drawing/2014/main" id="{E0A29962-4FDA-46C2-804B-2984EE8AC5AF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native-95">
            <a:extLst>
              <a:ext uri="{FF2B5EF4-FFF2-40B4-BE49-F238E27FC236}">
                <a16:creationId xmlns:a16="http://schemas.microsoft.com/office/drawing/2014/main" id="{A98BF652-00ED-4CA0-8FAE-C3194D709F8B}"/>
              </a:ext>
            </a:extLst>
          </p:cNvPr>
          <p:cNvSpPr>
            <a:spLocks noGrp="1"/>
          </p:cNvSpPr>
          <p:nvPr/>
        </p:nvSpPr>
        <p:spPr>
          <a:xfrm>
            <a:off x="971550" y="1847850"/>
            <a:ext cx="5667375" cy="928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TrustSoft teams hold 3–5 internal meetings each week, including sprint planning, client syncs and internal reviews.</a:t>
            </a:r>
          </a:p>
        </p:txBody>
      </p:sp>
      <p:sp>
        <p:nvSpPr>
          <p:cNvPr id="9" name="native-96">
            <a:extLst>
              <a:ext uri="{FF2B5EF4-FFF2-40B4-BE49-F238E27FC236}">
                <a16:creationId xmlns:a16="http://schemas.microsoft.com/office/drawing/2014/main" id="{EB2D1C6E-9BE8-4B87-B7BC-729E32176F08}"/>
              </a:ext>
            </a:extLst>
          </p:cNvPr>
          <p:cNvSpPr>
            <a:spLocks noGrp="1"/>
          </p:cNvSpPr>
          <p:nvPr/>
        </p:nvSpPr>
        <p:spPr>
          <a:xfrm>
            <a:off x="685800" y="303022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native-97">
            <a:extLst>
              <a:ext uri="{FF2B5EF4-FFF2-40B4-BE49-F238E27FC236}">
                <a16:creationId xmlns:a16="http://schemas.microsoft.com/office/drawing/2014/main" id="{F3204589-25FF-4947-AAF4-0B103267B2F6}"/>
              </a:ext>
            </a:extLst>
          </p:cNvPr>
          <p:cNvSpPr>
            <a:spLocks noGrp="1"/>
          </p:cNvSpPr>
          <p:nvPr/>
        </p:nvSpPr>
        <p:spPr>
          <a:xfrm>
            <a:off x="971550" y="3030219"/>
            <a:ext cx="5667375" cy="928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Schedules, meeting links, agendas and supporting files are spread across separate calendars, chats and folders.</a:t>
            </a:r>
          </a:p>
        </p:txBody>
      </p:sp>
      <p:sp>
        <p:nvSpPr>
          <p:cNvPr id="11" name="native-98">
            <a:extLst>
              <a:ext uri="{FF2B5EF4-FFF2-40B4-BE49-F238E27FC236}">
                <a16:creationId xmlns:a16="http://schemas.microsoft.com/office/drawing/2014/main" id="{F8B2CF91-AD22-4910-A7F7-82C50D76735F}"/>
              </a:ext>
            </a:extLst>
          </p:cNvPr>
          <p:cNvSpPr>
            <a:spLocks noGrp="1"/>
          </p:cNvSpPr>
          <p:nvPr/>
        </p:nvSpPr>
        <p:spPr>
          <a:xfrm>
            <a:off x="685800" y="421259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native-99">
            <a:extLst>
              <a:ext uri="{FF2B5EF4-FFF2-40B4-BE49-F238E27FC236}">
                <a16:creationId xmlns:a16="http://schemas.microsoft.com/office/drawing/2014/main" id="{501D39D3-4B6B-4CB2-83F1-CC5BCFAA7DB6}"/>
              </a:ext>
            </a:extLst>
          </p:cNvPr>
          <p:cNvSpPr>
            <a:spLocks noGrp="1"/>
          </p:cNvSpPr>
          <p:nvPr/>
        </p:nvSpPr>
        <p:spPr>
          <a:xfrm>
            <a:off x="971550" y="4212589"/>
            <a:ext cx="5667375" cy="928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Project leads search past documents, notes and chat history to recover decisions and unresolved topics.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783080"/>
            <a:ext cx="2514600" cy="11430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5875">
            <a:solidFill>
              <a:srgbClr val="2A4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1892808"/>
            <a:ext cx="2240280" cy="923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D3B78"/>
                </a:solidFill>
                <a:latin typeface="Arial"/>
              </a:rPr>
              <a:t>Google Calendar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4B5563"/>
                </a:solidFill>
                <a:latin typeface="Arial"/>
              </a:rPr>
              <a:t>Scheduling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0" y="1783080"/>
            <a:ext cx="2514600" cy="11430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5875">
            <a:solidFill>
              <a:srgbClr val="2A4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52760" y="1892808"/>
            <a:ext cx="2240280" cy="923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D3B78"/>
                </a:solidFill>
                <a:latin typeface="Arial"/>
              </a:rPr>
              <a:t>Zalo / Teams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4B5563"/>
                </a:solidFill>
                <a:latin typeface="Arial"/>
              </a:rPr>
              <a:t>Meeting links &amp; updates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4846320"/>
            <a:ext cx="2514600" cy="11430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5875">
            <a:solidFill>
              <a:srgbClr val="2A4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4956048"/>
            <a:ext cx="2240280" cy="923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D3B78"/>
                </a:solidFill>
                <a:latin typeface="Arial"/>
              </a:rPr>
              <a:t>Chat, email &amp; shared folders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4B5563"/>
                </a:solidFill>
                <a:latin typeface="Arial"/>
              </a:rPr>
              <a:t>Agendas &amp; supporting files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4846320"/>
            <a:ext cx="2514600" cy="11430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5875">
            <a:solidFill>
              <a:srgbClr val="2A4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52760" y="4956048"/>
            <a:ext cx="2240280" cy="923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D3B78"/>
                </a:solidFill>
                <a:latin typeface="Arial"/>
              </a:rPr>
              <a:t>Google Docs &amp; paper notes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4B5563"/>
                </a:solidFill>
                <a:latin typeface="Arial"/>
              </a:rPr>
              <a:t>Discussion notes &amp; outcomes</a:t>
            </a:r>
          </a:p>
        </p:txBody>
      </p:sp>
      <p:sp>
        <p:nvSpPr>
          <p:cNvPr id="25" name="NoSingleRecord"/>
          <p:cNvSpPr/>
          <p:nvPr/>
        </p:nvSpPr>
        <p:spPr>
          <a:xfrm>
            <a:off x="9189720" y="3017520"/>
            <a:ext cx="1737360" cy="17373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A4D9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3017520"/>
            <a:ext cx="146304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A4D94"/>
                </a:solidFill>
                <a:latin typeface="Arial"/>
              </a:rPr>
              <a:t>No single</a:t>
            </a:r>
          </a:p>
          <a:p>
            <a:pPr algn="ctr"/>
            <a:r>
              <a:rPr sz="1300" b="1">
                <a:solidFill>
                  <a:srgbClr val="2A4D94"/>
                </a:solidFill>
                <a:latin typeface="Arial"/>
              </a:rPr>
              <a:t>meeting record</a:t>
            </a:r>
          </a:p>
        </p:txBody>
      </p:sp>
      <p:sp>
        <p:nvSpPr>
          <p:cNvPr id="27" name="ScatteredCaption"/>
          <p:cNvSpPr txBox="1"/>
          <p:nvPr/>
        </p:nvSpPr>
        <p:spPr>
          <a:xfrm>
            <a:off x="7086600" y="621792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A4D94"/>
                </a:solidFill>
                <a:latin typeface="Arial"/>
              </a:rPr>
              <a:t>Meeting information is spread across separate tools</a:t>
            </a:r>
          </a:p>
        </p:txBody>
      </p:sp>
      <p:sp>
        <p:nvSpPr>
          <p:cNvPr id="13" name="Added background bullet">
            <a:extLst>
              <a:ext uri="{FF2B5EF4-FFF2-40B4-BE49-F238E27FC236}">
                <a16:creationId xmlns:a16="http://schemas.microsoft.com/office/drawing/2014/main" id="{E0A29962-4FDA-46C2-804B-2984EE8AC5AF}"/>
              </a:ext>
            </a:extLst>
          </p:cNvPr>
          <p:cNvSpPr>
            <a:spLocks noGrp="1"/>
          </p:cNvSpPr>
          <p:nvPr/>
        </p:nvSpPr>
        <p:spPr>
          <a:xfrm>
            <a:off x="685800" y="539496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8" name="Added background text">
            <a:extLst>
              <a:ext uri="{FF2B5EF4-FFF2-40B4-BE49-F238E27FC236}">
                <a16:creationId xmlns:a16="http://schemas.microsoft.com/office/drawing/2014/main" id="{501D39D3-4B6B-4CB2-83F1-CC5BCFAA7DB6}"/>
              </a:ext>
            </a:extLst>
          </p:cNvPr>
          <p:cNvSpPr>
            <a:spLocks noGrp="1"/>
          </p:cNvSpPr>
          <p:nvPr/>
        </p:nvSpPr>
        <p:spPr>
          <a:xfrm>
            <a:off x="971550" y="5394959"/>
            <a:ext cx="5667375" cy="928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Discussion notes and informal votes are consolidated manually; minutes may arrive 1–2 days later without one consistent meeting record.</a:t>
            </a:r>
          </a:p>
        </p:txBody>
      </p:sp>
    </p:spTree>
    <p:extLst>
      <p:ext uri="{BB962C8B-B14F-4D97-AF65-F5344CB8AC3E}">
        <p14:creationId xmlns:p14="http://schemas.microsoft.com/office/powerpoint/2010/main" val="1303797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tive-102">
            <a:extLst>
              <a:ext uri="{FF2B5EF4-FFF2-40B4-BE49-F238E27FC236}">
                <a16:creationId xmlns:a16="http://schemas.microsoft.com/office/drawing/2014/main" id="{00B2D898-4860-4341-9BD1-DA2DA87EA6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103">
            <a:extLst>
              <a:ext uri="{FF2B5EF4-FFF2-40B4-BE49-F238E27FC236}">
                <a16:creationId xmlns:a16="http://schemas.microsoft.com/office/drawing/2014/main" id="{0A49D958-80F2-42FD-A7A4-55548E49EAC1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104">
            <a:extLst>
              <a:ext uri="{FF2B5EF4-FFF2-40B4-BE49-F238E27FC236}">
                <a16:creationId xmlns:a16="http://schemas.microsoft.com/office/drawing/2014/main" id="{8412F400-578A-402E-8E0C-249EC446ACCA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2333625" cy="2381250"/>
          </a:xfrm>
          <a:prstGeom prst="rtTriangle">
            <a:avLst/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105">
            <a:extLst>
              <a:ext uri="{FF2B5EF4-FFF2-40B4-BE49-F238E27FC236}">
                <a16:creationId xmlns:a16="http://schemas.microsoft.com/office/drawing/2014/main" id="{E5A89153-8C53-42A5-89CB-0BB41F67F2B5}"/>
              </a:ext>
            </a:extLst>
          </p:cNvPr>
          <p:cNvSpPr>
            <a:spLocks noGrp="1"/>
          </p:cNvSpPr>
          <p:nvPr/>
        </p:nvSpPr>
        <p:spPr>
          <a:xfrm rot="16200000">
            <a:off x="11525250" y="5238750"/>
            <a:ext cx="2190750" cy="247650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tive-106">
            <a:extLst>
              <a:ext uri="{FF2B5EF4-FFF2-40B4-BE49-F238E27FC236}">
                <a16:creationId xmlns:a16="http://schemas.microsoft.com/office/drawing/2014/main" id="{F745337D-BA69-4D61-9508-3E8B17890F53}"/>
              </a:ext>
            </a:extLst>
          </p:cNvPr>
          <p:cNvSpPr>
            <a:spLocks noGrp="1"/>
          </p:cNvSpPr>
          <p:nvPr/>
        </p:nvSpPr>
        <p:spPr>
          <a:xfrm>
            <a:off x="781050" y="7486650"/>
            <a:ext cx="11953875" cy="400050"/>
          </a:xfrm>
          <a:prstGeom prst="roundRect">
            <a:avLst>
              <a:gd name="adj" fmla="val 19048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-107">
            <a:extLst>
              <a:ext uri="{FF2B5EF4-FFF2-40B4-BE49-F238E27FC236}">
                <a16:creationId xmlns:a16="http://schemas.microsoft.com/office/drawing/2014/main" id="{8BFED308-0F70-4E1D-BD3F-3361F91C2903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7</a:t>
            </a:r>
          </a:p>
        </p:txBody>
      </p:sp>
      <p:sp>
        <p:nvSpPr>
          <p:cNvPr id="7" name="native-108">
            <a:extLst>
              <a:ext uri="{FF2B5EF4-FFF2-40B4-BE49-F238E27FC236}">
                <a16:creationId xmlns:a16="http://schemas.microsoft.com/office/drawing/2014/main" id="{9CB5579F-8D46-47D2-B95A-0A41F20AE9E1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Current Meeting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8" name="native-109">
            <a:extLst>
              <a:ext uri="{FF2B5EF4-FFF2-40B4-BE49-F238E27FC236}">
                <a16:creationId xmlns:a16="http://schemas.microsoft.com/office/drawing/2014/main" id="{8209CB48-808A-4E3B-B9F0-6C830705E61F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89825E-2CBD-4D07-BD19-54DC9C83D69B}"/>
              </a:ext>
            </a:extLst>
          </p:cNvPr>
          <p:cNvGraphicFramePr/>
          <p:nvPr/>
        </p:nvGraphicFramePr>
        <p:xfrm>
          <a:off x="666750" y="1895475"/>
          <a:ext cx="12382500" cy="3448052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20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practice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Consequence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0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Before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Search chat threads and folders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Latest document version is hard to confirm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0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During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Manual notes and informal votes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Discussion and vote evidence can be incomplete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0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Manually consolidate and share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Minutes may arrive 1–2 days 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native-110">
            <a:extLst>
              <a:ext uri="{FF2B5EF4-FFF2-40B4-BE49-F238E27FC236}">
                <a16:creationId xmlns:a16="http://schemas.microsoft.com/office/drawing/2014/main" id="{0E4EF809-725D-4758-B43D-16A1A6E58A5C}"/>
              </a:ext>
            </a:extLst>
          </p:cNvPr>
          <p:cNvSpPr>
            <a:spLocks noGrp="1"/>
          </p:cNvSpPr>
          <p:nvPr/>
        </p:nvSpPr>
        <p:spPr>
          <a:xfrm>
            <a:off x="666750" y="5800725"/>
            <a:ext cx="647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A connected meeting record</a:t>
            </a:r>
          </a:p>
        </p:txBody>
      </p:sp>
      <p:sp>
        <p:nvSpPr>
          <p:cNvPr id="11" name="native-111">
            <a:extLst>
              <a:ext uri="{FF2B5EF4-FFF2-40B4-BE49-F238E27FC236}">
                <a16:creationId xmlns:a16="http://schemas.microsoft.com/office/drawing/2014/main" id="{5AB35946-B4EB-4B6D-BA8B-9988CA04F54C}"/>
              </a:ext>
            </a:extLst>
          </p:cNvPr>
          <p:cNvSpPr>
            <a:spLocks noGrp="1"/>
          </p:cNvSpPr>
          <p:nvPr/>
        </p:nvSpPr>
        <p:spPr>
          <a:xfrm>
            <a:off x="666750" y="6324600"/>
            <a:ext cx="1133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TrustCabinet keeps preparation, documents, outcomes and signed minutes around the same Meeting.</a:t>
            </a:r>
          </a:p>
        </p:txBody>
      </p:sp>
    </p:spTree>
    <p:extLst>
      <p:ext uri="{BB962C8B-B14F-4D97-AF65-F5344CB8AC3E}">
        <p14:creationId xmlns:p14="http://schemas.microsoft.com/office/powerpoint/2010/main" val="195865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native-112">
            <a:extLst>
              <a:ext uri="{FF2B5EF4-FFF2-40B4-BE49-F238E27FC236}">
                <a16:creationId xmlns:a16="http://schemas.microsoft.com/office/drawing/2014/main" id="{5D462516-8BE5-4E0C-BB3E-D863E9CB6E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native-113">
            <a:extLst>
              <a:ext uri="{FF2B5EF4-FFF2-40B4-BE49-F238E27FC236}">
                <a16:creationId xmlns:a16="http://schemas.microsoft.com/office/drawing/2014/main" id="{6E082244-7AF3-4CD4-B390-A0CF9847320E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native-114">
            <a:extLst>
              <a:ext uri="{FF2B5EF4-FFF2-40B4-BE49-F238E27FC236}">
                <a16:creationId xmlns:a16="http://schemas.microsoft.com/office/drawing/2014/main" id="{674CFFA4-AD2E-4481-8CFC-C573588F7B55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native-115">
            <a:extLst>
              <a:ext uri="{FF2B5EF4-FFF2-40B4-BE49-F238E27FC236}">
                <a16:creationId xmlns:a16="http://schemas.microsoft.com/office/drawing/2014/main" id="{CC6BD3AD-92ED-4178-BBA0-E6204D4A2DEF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8</a:t>
            </a:r>
          </a:p>
        </p:txBody>
      </p:sp>
      <p:sp>
        <p:nvSpPr>
          <p:cNvPr id="5" name="native-116">
            <a:extLst>
              <a:ext uri="{FF2B5EF4-FFF2-40B4-BE49-F238E27FC236}">
                <a16:creationId xmlns:a16="http://schemas.microsoft.com/office/drawing/2014/main" id="{B9DBEC54-4F9D-4E79-8859-905C24695566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02. Existing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Solutions</a:t>
            </a:r>
          </a:p>
        </p:txBody>
      </p:sp>
      <p:sp>
        <p:nvSpPr>
          <p:cNvPr id="6" name="native-117">
            <a:extLst>
              <a:ext uri="{FF2B5EF4-FFF2-40B4-BE49-F238E27FC236}">
                <a16:creationId xmlns:a16="http://schemas.microsoft.com/office/drawing/2014/main" id="{9B293AFE-2796-4C91-86E4-F98B783DCB06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ative-118">
            <a:extLst>
              <a:ext uri="{FF2B5EF4-FFF2-40B4-BE49-F238E27FC236}">
                <a16:creationId xmlns:a16="http://schemas.microsoft.com/office/drawing/2014/main" id="{E8DAF175-9084-4223-94B0-15923C824D74}"/>
              </a:ext>
            </a:extLst>
          </p:cNvPr>
          <p:cNvSpPr>
            <a:spLocks noGrp="1"/>
          </p:cNvSpPr>
          <p:nvPr/>
        </p:nvSpPr>
        <p:spPr>
          <a:xfrm>
            <a:off x="822960" y="5669280"/>
            <a:ext cx="71323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sz="2150" b="1">
                <a:solidFill>
                  <a:srgbClr val="2A4D94"/>
                </a:solidFill>
                <a:latin typeface="Arial"/>
              </a:rPr>
              <a:t>Fellow &amp; Fireflies.ai</a:t>
            </a:r>
          </a:p>
        </p:txBody>
      </p:sp>
      <p:sp>
        <p:nvSpPr>
          <p:cNvPr id="11" name="native-122">
            <a:extLst>
              <a:ext uri="{FF2B5EF4-FFF2-40B4-BE49-F238E27FC236}">
                <a16:creationId xmlns:a16="http://schemas.microsoft.com/office/drawing/2014/main" id="{4AB3440F-A763-4894-9C89-9D953BC7B44D}"/>
              </a:ext>
            </a:extLst>
          </p:cNvPr>
          <p:cNvSpPr>
            <a:spLocks noGrp="1"/>
          </p:cNvSpPr>
          <p:nvPr/>
        </p:nvSpPr>
        <p:spPr>
          <a:xfrm>
            <a:off x="8229600" y="1828800"/>
            <a:ext cx="47091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Feature:</a:t>
            </a:r>
          </a:p>
        </p:txBody>
      </p:sp>
      <p:sp>
        <p:nvSpPr>
          <p:cNvPr id="12" name="native-123">
            <a:extLst>
              <a:ext uri="{FF2B5EF4-FFF2-40B4-BE49-F238E27FC236}">
                <a16:creationId xmlns:a16="http://schemas.microsoft.com/office/drawing/2014/main" id="{DC72E125-DBDB-47C4-8DBD-02E9D578061C}"/>
              </a:ext>
            </a:extLst>
          </p:cNvPr>
          <p:cNvSpPr>
            <a:spLocks noGrp="1"/>
          </p:cNvSpPr>
          <p:nvPr/>
        </p:nvSpPr>
        <p:spPr>
          <a:xfrm>
            <a:off x="8229600" y="2286000"/>
            <a:ext cx="4709160" cy="1024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Meeting recaps, transcription and collaborative notes.</a:t>
            </a:r>
          </a:p>
        </p:txBody>
      </p:sp>
      <p:sp>
        <p:nvSpPr>
          <p:cNvPr id="13" name="native-124">
            <a:extLst>
              <a:ext uri="{FF2B5EF4-FFF2-40B4-BE49-F238E27FC236}">
                <a16:creationId xmlns:a16="http://schemas.microsoft.com/office/drawing/2014/main" id="{1D774017-538C-4C2C-9B71-A5E283BEB72A}"/>
              </a:ext>
            </a:extLst>
          </p:cNvPr>
          <p:cNvSpPr>
            <a:spLocks noGrp="1"/>
          </p:cNvSpPr>
          <p:nvPr/>
        </p:nvSpPr>
        <p:spPr>
          <a:xfrm>
            <a:off x="8229600" y="3474720"/>
            <a:ext cx="47091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Strength:</a:t>
            </a:r>
          </a:p>
        </p:txBody>
      </p:sp>
      <p:sp>
        <p:nvSpPr>
          <p:cNvPr id="14" name="native-125">
            <a:extLst>
              <a:ext uri="{FF2B5EF4-FFF2-40B4-BE49-F238E27FC236}">
                <a16:creationId xmlns:a16="http://schemas.microsoft.com/office/drawing/2014/main" id="{098CBC4B-05E2-4221-8BF7-B2645DD838BE}"/>
              </a:ext>
            </a:extLst>
          </p:cNvPr>
          <p:cNvSpPr>
            <a:spLocks noGrp="1"/>
          </p:cNvSpPr>
          <p:nvPr/>
        </p:nvSpPr>
        <p:spPr>
          <a:xfrm>
            <a:off x="8229600" y="3931920"/>
            <a:ext cx="4709160" cy="1024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Specialized tools for capturing and reviewing meeting content.</a:t>
            </a:r>
          </a:p>
        </p:txBody>
      </p:sp>
      <p:sp>
        <p:nvSpPr>
          <p:cNvPr id="15" name="native-126">
            <a:extLst>
              <a:ext uri="{FF2B5EF4-FFF2-40B4-BE49-F238E27FC236}">
                <a16:creationId xmlns:a16="http://schemas.microsoft.com/office/drawing/2014/main" id="{823E50A6-BCC3-4EC3-B0AA-881412381B12}"/>
              </a:ext>
            </a:extLst>
          </p:cNvPr>
          <p:cNvSpPr>
            <a:spLocks noGrp="1"/>
          </p:cNvSpPr>
          <p:nvPr/>
        </p:nvSpPr>
        <p:spPr>
          <a:xfrm>
            <a:off x="8229600" y="5120640"/>
            <a:ext cx="47091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Project gap:</a:t>
            </a:r>
          </a:p>
        </p:txBody>
      </p:sp>
      <p:sp>
        <p:nvSpPr>
          <p:cNvPr id="16" name="native-127">
            <a:extLst>
              <a:ext uri="{FF2B5EF4-FFF2-40B4-BE49-F238E27FC236}">
                <a16:creationId xmlns:a16="http://schemas.microsoft.com/office/drawing/2014/main" id="{665EFBA6-978F-471B-916A-3920B3AF2555}"/>
              </a:ext>
            </a:extLst>
          </p:cNvPr>
          <p:cNvSpPr>
            <a:spLocks noGrp="1"/>
          </p:cNvSpPr>
          <p:nvPr/>
        </p:nvSpPr>
        <p:spPr>
          <a:xfrm>
            <a:off x="8229600" y="5577840"/>
            <a:ext cx="4709160" cy="1024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Meeting-specific voting, document governance and signed minutes in one internally hosted record.</a:t>
            </a:r>
          </a:p>
        </p:txBody>
      </p:sp>
      <p:pic>
        <p:nvPicPr>
          <p:cNvPr id="18" name="Picture 17" descr="fellow_thumb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2960" y="2011680"/>
            <a:ext cx="7132320" cy="35661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22960" y="2011680"/>
            <a:ext cx="7132320" cy="3566160"/>
          </a:xfrm>
          <a:prstGeom prst="rect">
            <a:avLst/>
          </a:prstGeom>
          <a:noFill/>
          <a:ln w="1397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2920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native-128">
            <a:extLst>
              <a:ext uri="{FF2B5EF4-FFF2-40B4-BE49-F238E27FC236}">
                <a16:creationId xmlns:a16="http://schemas.microsoft.com/office/drawing/2014/main" id="{EC5E3EE3-342A-41BB-A1F7-107DAFE0CB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native-129">
            <a:extLst>
              <a:ext uri="{FF2B5EF4-FFF2-40B4-BE49-F238E27FC236}">
                <a16:creationId xmlns:a16="http://schemas.microsoft.com/office/drawing/2014/main" id="{8616C810-EA17-4538-AB47-3967E72B4A24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native-130">
            <a:extLst>
              <a:ext uri="{FF2B5EF4-FFF2-40B4-BE49-F238E27FC236}">
                <a16:creationId xmlns:a16="http://schemas.microsoft.com/office/drawing/2014/main" id="{4DF1EA13-DA72-427C-8D61-74434A1D1C27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native-131">
            <a:extLst>
              <a:ext uri="{FF2B5EF4-FFF2-40B4-BE49-F238E27FC236}">
                <a16:creationId xmlns:a16="http://schemas.microsoft.com/office/drawing/2014/main" id="{C222A57A-1838-45AF-9210-D234625E49AA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9</a:t>
            </a:r>
          </a:p>
        </p:txBody>
      </p:sp>
      <p:sp>
        <p:nvSpPr>
          <p:cNvPr id="5" name="native-132">
            <a:extLst>
              <a:ext uri="{FF2B5EF4-FFF2-40B4-BE49-F238E27FC236}">
                <a16:creationId xmlns:a16="http://schemas.microsoft.com/office/drawing/2014/main" id="{94B21A4F-42E8-4C8C-9D7F-A107355EEA48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02. Existing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Solutions</a:t>
            </a:r>
          </a:p>
        </p:txBody>
      </p:sp>
      <p:sp>
        <p:nvSpPr>
          <p:cNvPr id="6" name="native-133">
            <a:extLst>
              <a:ext uri="{FF2B5EF4-FFF2-40B4-BE49-F238E27FC236}">
                <a16:creationId xmlns:a16="http://schemas.microsoft.com/office/drawing/2014/main" id="{BE5A2B6F-4539-4FFC-AB2D-5C8D549A229A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ative-134">
            <a:extLst>
              <a:ext uri="{FF2B5EF4-FFF2-40B4-BE49-F238E27FC236}">
                <a16:creationId xmlns:a16="http://schemas.microsoft.com/office/drawing/2014/main" id="{CADBE2B9-39C8-426A-B1AA-D88547355816}"/>
              </a:ext>
            </a:extLst>
          </p:cNvPr>
          <p:cNvSpPr>
            <a:spLocks noGrp="1"/>
          </p:cNvSpPr>
          <p:nvPr/>
        </p:nvSpPr>
        <p:spPr>
          <a:xfrm>
            <a:off x="822960" y="5669280"/>
            <a:ext cx="71323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/>
            <a:r>
              <a:rPr sz="2000" b="1">
                <a:solidFill>
                  <a:srgbClr val="2A4D94"/>
                </a:solidFill>
                <a:latin typeface="Arial"/>
              </a:rPr>
              <a:t>ASANA + ZOOM + CLICKUP</a:t>
            </a:r>
          </a:p>
        </p:txBody>
      </p:sp>
      <p:sp>
        <p:nvSpPr>
          <p:cNvPr id="8" name="native-135">
            <a:extLst>
              <a:ext uri="{FF2B5EF4-FFF2-40B4-BE49-F238E27FC236}">
                <a16:creationId xmlns:a16="http://schemas.microsoft.com/office/drawing/2014/main" id="{CB341A1C-43E8-4DBA-9F46-D11F1E753D01}"/>
              </a:ext>
            </a:extLst>
          </p:cNvPr>
          <p:cNvSpPr>
            <a:spLocks noGrp="1"/>
          </p:cNvSpPr>
          <p:nvPr/>
        </p:nvSpPr>
        <p:spPr>
          <a:xfrm>
            <a:off x="822960" y="6885431"/>
            <a:ext cx="71323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endParaRPr sz="1450" b="0" dirty="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native-138">
            <a:extLst>
              <a:ext uri="{FF2B5EF4-FFF2-40B4-BE49-F238E27FC236}">
                <a16:creationId xmlns:a16="http://schemas.microsoft.com/office/drawing/2014/main" id="{396B8F96-DB02-4D5B-AF64-578F1F8962A3}"/>
              </a:ext>
            </a:extLst>
          </p:cNvPr>
          <p:cNvSpPr>
            <a:spLocks noGrp="1"/>
          </p:cNvSpPr>
          <p:nvPr/>
        </p:nvSpPr>
        <p:spPr>
          <a:xfrm>
            <a:off x="8229600" y="1828800"/>
            <a:ext cx="47091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Feature:</a:t>
            </a:r>
          </a:p>
        </p:txBody>
      </p:sp>
      <p:sp>
        <p:nvSpPr>
          <p:cNvPr id="12" name="native-139">
            <a:extLst>
              <a:ext uri="{FF2B5EF4-FFF2-40B4-BE49-F238E27FC236}">
                <a16:creationId xmlns:a16="http://schemas.microsoft.com/office/drawing/2014/main" id="{F89A35AF-D828-4E34-AAC7-27A72BD79C8F}"/>
              </a:ext>
            </a:extLst>
          </p:cNvPr>
          <p:cNvSpPr>
            <a:spLocks noGrp="1"/>
          </p:cNvSpPr>
          <p:nvPr/>
        </p:nvSpPr>
        <p:spPr>
          <a:xfrm>
            <a:off x="8229600" y="2286000"/>
            <a:ext cx="4709160" cy="1024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Separate collaboration tools or a broader productivity and document platform.</a:t>
            </a:r>
          </a:p>
        </p:txBody>
      </p:sp>
      <p:sp>
        <p:nvSpPr>
          <p:cNvPr id="13" name="native-140">
            <a:extLst>
              <a:ext uri="{FF2B5EF4-FFF2-40B4-BE49-F238E27FC236}">
                <a16:creationId xmlns:a16="http://schemas.microsoft.com/office/drawing/2014/main" id="{6EB43AB3-5012-41B7-8C9C-83AA172C8F8E}"/>
              </a:ext>
            </a:extLst>
          </p:cNvPr>
          <p:cNvSpPr>
            <a:spLocks noGrp="1"/>
          </p:cNvSpPr>
          <p:nvPr/>
        </p:nvSpPr>
        <p:spPr>
          <a:xfrm>
            <a:off x="8229600" y="3474720"/>
            <a:ext cx="47091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Strength:</a:t>
            </a:r>
          </a:p>
        </p:txBody>
      </p:sp>
      <p:sp>
        <p:nvSpPr>
          <p:cNvPr id="14" name="native-141">
            <a:extLst>
              <a:ext uri="{FF2B5EF4-FFF2-40B4-BE49-F238E27FC236}">
                <a16:creationId xmlns:a16="http://schemas.microsoft.com/office/drawing/2014/main" id="{B8212F5A-1089-451A-945A-1AF0351F620B}"/>
              </a:ext>
            </a:extLst>
          </p:cNvPr>
          <p:cNvSpPr>
            <a:spLocks noGrp="1"/>
          </p:cNvSpPr>
          <p:nvPr/>
        </p:nvSpPr>
        <p:spPr>
          <a:xfrm>
            <a:off x="8229600" y="3931920"/>
            <a:ext cx="4709160" cy="1024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Flexible workflows and established collaboration capabilities.</a:t>
            </a:r>
          </a:p>
        </p:txBody>
      </p:sp>
      <p:sp>
        <p:nvSpPr>
          <p:cNvPr id="15" name="native-142">
            <a:extLst>
              <a:ext uri="{FF2B5EF4-FFF2-40B4-BE49-F238E27FC236}">
                <a16:creationId xmlns:a16="http://schemas.microsoft.com/office/drawing/2014/main" id="{E41C47D2-44F1-4138-B495-53F926B38D2A}"/>
              </a:ext>
            </a:extLst>
          </p:cNvPr>
          <p:cNvSpPr>
            <a:spLocks noGrp="1"/>
          </p:cNvSpPr>
          <p:nvPr/>
        </p:nvSpPr>
        <p:spPr>
          <a:xfrm>
            <a:off x="8229600" y="5120640"/>
            <a:ext cx="47091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Project gap:</a:t>
            </a:r>
          </a:p>
        </p:txBody>
      </p:sp>
      <p:sp>
        <p:nvSpPr>
          <p:cNvPr id="16" name="native-143">
            <a:extLst>
              <a:ext uri="{FF2B5EF4-FFF2-40B4-BE49-F238E27FC236}">
                <a16:creationId xmlns:a16="http://schemas.microsoft.com/office/drawing/2014/main" id="{905E1DCC-53E7-4F97-B8DA-64C567642F41}"/>
              </a:ext>
            </a:extLst>
          </p:cNvPr>
          <p:cNvSpPr>
            <a:spLocks noGrp="1"/>
          </p:cNvSpPr>
          <p:nvPr/>
        </p:nvSpPr>
        <p:spPr>
          <a:xfrm>
            <a:off x="8229600" y="5577840"/>
            <a:ext cx="4709160" cy="10241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A cohesive meeting record with internal access control and formal meeting governance.</a:t>
            </a:r>
          </a:p>
        </p:txBody>
      </p:sp>
      <p:pic>
        <p:nvPicPr>
          <p:cNvPr id="21" name="Picture 20" descr="zoom_thumb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2960" y="2011680"/>
            <a:ext cx="7132320" cy="356616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22960" y="2011680"/>
            <a:ext cx="7132320" cy="3566160"/>
          </a:xfrm>
          <a:prstGeom prst="rect">
            <a:avLst/>
          </a:prstGeom>
          <a:noFill/>
          <a:ln w="1397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75509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native-144">
            <a:extLst>
              <a:ext uri="{FF2B5EF4-FFF2-40B4-BE49-F238E27FC236}">
                <a16:creationId xmlns:a16="http://schemas.microsoft.com/office/drawing/2014/main" id="{64C55DAA-D619-450A-9626-A94EB54CE8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native-145">
            <a:extLst>
              <a:ext uri="{FF2B5EF4-FFF2-40B4-BE49-F238E27FC236}">
                <a16:creationId xmlns:a16="http://schemas.microsoft.com/office/drawing/2014/main" id="{D743166E-9083-4210-86AA-40F123C2B865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native-146">
            <a:extLst>
              <a:ext uri="{FF2B5EF4-FFF2-40B4-BE49-F238E27FC236}">
                <a16:creationId xmlns:a16="http://schemas.microsoft.com/office/drawing/2014/main" id="{C560F60B-D8D2-414C-A761-75F16BFC53A7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native-147">
            <a:extLst>
              <a:ext uri="{FF2B5EF4-FFF2-40B4-BE49-F238E27FC236}">
                <a16:creationId xmlns:a16="http://schemas.microsoft.com/office/drawing/2014/main" id="{20360185-6AB8-48E6-9F35-0F90919C99F2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10</a:t>
            </a:r>
          </a:p>
        </p:txBody>
      </p:sp>
      <p:sp>
        <p:nvSpPr>
          <p:cNvPr id="5" name="native-148">
            <a:extLst>
              <a:ext uri="{FF2B5EF4-FFF2-40B4-BE49-F238E27FC236}">
                <a16:creationId xmlns:a16="http://schemas.microsoft.com/office/drawing/2014/main" id="{C6AFD16F-2972-4065-9E93-E193B8D2D963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03. Our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6" name="native-149">
            <a:extLst>
              <a:ext uri="{FF2B5EF4-FFF2-40B4-BE49-F238E27FC236}">
                <a16:creationId xmlns:a16="http://schemas.microsoft.com/office/drawing/2014/main" id="{93F3C134-2C8F-4235-B02F-B7350AD5ECB5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native-156">
            <a:extLst>
              <a:ext uri="{FF2B5EF4-FFF2-40B4-BE49-F238E27FC236}">
                <a16:creationId xmlns:a16="http://schemas.microsoft.com/office/drawing/2014/main" id="{A722CDE7-3780-4144-8AAA-FA2CF2B1479A}"/>
              </a:ext>
            </a:extLst>
          </p:cNvPr>
          <p:cNvSpPr>
            <a:spLocks noGrp="1"/>
          </p:cNvSpPr>
          <p:nvPr/>
        </p:nvSpPr>
        <p:spPr>
          <a:xfrm>
            <a:off x="7477125" y="2324100"/>
            <a:ext cx="5476875" cy="3457575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28575">
            <a:solidFill>
              <a:srgbClr val="2A4D9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Picture 16" descr="meeting_documents.jpg"/>
          <p:cNvPicPr>
            <a:picLocks noChangeAspect="1"/>
          </p:cNvPicPr>
          <p:nvPr/>
        </p:nvPicPr>
        <p:blipFill>
          <a:blip r:embed="rId3"/>
          <a:srcRect l="11998" r="11998"/>
          <a:stretch>
            <a:fillRect/>
          </a:stretch>
        </p:blipFill>
        <p:spPr>
          <a:xfrm>
            <a:off x="7223760" y="1755648"/>
            <a:ext cx="5989320" cy="44348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223760" y="1755648"/>
            <a:ext cx="5989320" cy="4434840"/>
          </a:xfrm>
          <a:prstGeom prst="rect">
            <a:avLst/>
          </a:prstGeom>
          <a:noFill/>
          <a:ln w="13970">
            <a:solidFill>
              <a:srgbClr val="BBD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3232" y="1929384"/>
            <a:ext cx="164592" cy="164592"/>
          </a:xfrm>
          <a:prstGeom prst="ellipse">
            <a:avLst/>
          </a:prstGeom>
          <a:solidFill>
            <a:srgbClr val="2A4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1810512"/>
            <a:ext cx="5852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0">
                <a:solidFill>
                  <a:srgbClr val="1A2433"/>
                </a:solidFill>
                <a:latin typeface="Arial"/>
              </a:rPr>
              <a:t>Prepare and approve meetings, agendas and authorized documents in one workspace. Define participants and access before the meeting.</a:t>
            </a:r>
          </a:p>
        </p:txBody>
      </p:sp>
      <p:sp>
        <p:nvSpPr>
          <p:cNvPr id="22" name="Oval 21"/>
          <p:cNvSpPr/>
          <p:nvPr/>
        </p:nvSpPr>
        <p:spPr>
          <a:xfrm>
            <a:off x="713232" y="3218688"/>
            <a:ext cx="164592" cy="164592"/>
          </a:xfrm>
          <a:prstGeom prst="ellipse">
            <a:avLst/>
          </a:prstGeom>
          <a:solidFill>
            <a:srgbClr val="2A4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3099816"/>
            <a:ext cx="5852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0">
                <a:solidFill>
                  <a:srgbClr val="1A2433"/>
                </a:solidFill>
                <a:latin typeface="Arial"/>
              </a:rPr>
              <a:t>Conduct browser-based meetings, review shared documents and record live vote results with Chair conclusions.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" y="4507992"/>
            <a:ext cx="164592" cy="164592"/>
          </a:xfrm>
          <a:prstGeom prst="ellipse">
            <a:avLst/>
          </a:prstGeom>
          <a:solidFill>
            <a:srgbClr val="2A4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" y="4389120"/>
            <a:ext cx="5852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0" dirty="0">
                <a:solidFill>
                  <a:srgbClr val="1A2433"/>
                </a:solidFill>
                <a:latin typeface="Arial"/>
              </a:rPr>
              <a:t>Review AI-assisted transcripts and summaries, then sign and seal formal meeting minutes for a traceable meeting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5879592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A2433"/>
                </a:solidFill>
                <a:latin typeface="Arial"/>
              </a:rPr>
              <a:t>One connected record: preparation → meeting → approved minutes.</a:t>
            </a:r>
          </a:p>
        </p:txBody>
      </p:sp>
    </p:spTree>
    <p:extLst>
      <p:ext uri="{BB962C8B-B14F-4D97-AF65-F5344CB8AC3E}">
        <p14:creationId xmlns:p14="http://schemas.microsoft.com/office/powerpoint/2010/main" val="409505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native-158">
            <a:extLst>
              <a:ext uri="{FF2B5EF4-FFF2-40B4-BE49-F238E27FC236}">
                <a16:creationId xmlns:a16="http://schemas.microsoft.com/office/drawing/2014/main" id="{CC20B9E1-8A71-4AEB-A2C3-B662605164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159">
            <a:extLst>
              <a:ext uri="{FF2B5EF4-FFF2-40B4-BE49-F238E27FC236}">
                <a16:creationId xmlns:a16="http://schemas.microsoft.com/office/drawing/2014/main" id="{2F2A3DF6-38DC-4901-89E1-AAC4BF4CD202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160">
            <a:extLst>
              <a:ext uri="{FF2B5EF4-FFF2-40B4-BE49-F238E27FC236}">
                <a16:creationId xmlns:a16="http://schemas.microsoft.com/office/drawing/2014/main" id="{6E08F2D5-7D6E-44CB-8211-9C5EB899BCD4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161">
            <a:extLst>
              <a:ext uri="{FF2B5EF4-FFF2-40B4-BE49-F238E27FC236}">
                <a16:creationId xmlns:a16="http://schemas.microsoft.com/office/drawing/2014/main" id="{AE26263E-FBFD-426F-8033-027E518592AA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11</a:t>
            </a:r>
          </a:p>
        </p:txBody>
      </p:sp>
      <p:sp>
        <p:nvSpPr>
          <p:cNvPr id="5" name="native-162">
            <a:extLst>
              <a:ext uri="{FF2B5EF4-FFF2-40B4-BE49-F238E27FC236}">
                <a16:creationId xmlns:a16="http://schemas.microsoft.com/office/drawing/2014/main" id="{18BE494A-CA02-4C5A-9E27-BC5E176F07F2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TrustCabinet — Meeting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6" name="native-163">
            <a:extLst>
              <a:ext uri="{FF2B5EF4-FFF2-40B4-BE49-F238E27FC236}">
                <a16:creationId xmlns:a16="http://schemas.microsoft.com/office/drawing/2014/main" id="{7F3BBE30-0028-4F7F-80E2-A4FD20F54DC5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164">
            <a:extLst>
              <a:ext uri="{FF2B5EF4-FFF2-40B4-BE49-F238E27FC236}">
                <a16:creationId xmlns:a16="http://schemas.microsoft.com/office/drawing/2014/main" id="{4D1E9D58-DDE7-41E3-A928-D637288C3C2B}"/>
              </a:ext>
            </a:extLst>
          </p:cNvPr>
          <p:cNvSpPr>
            <a:spLocks noGrp="1"/>
          </p:cNvSpPr>
          <p:nvPr/>
        </p:nvSpPr>
        <p:spPr>
          <a:xfrm>
            <a:off x="619125" y="1900701"/>
            <a:ext cx="12477750" cy="4705350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9050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native-165">
            <a:extLst>
              <a:ext uri="{FF2B5EF4-FFF2-40B4-BE49-F238E27FC236}">
                <a16:creationId xmlns:a16="http://schemas.microsoft.com/office/drawing/2014/main" id="{BCC93FC9-7697-4C00-8BF7-5505CAD2A494}"/>
              </a:ext>
            </a:extLst>
          </p:cNvPr>
          <p:cNvSpPr>
            <a:spLocks noGrp="1"/>
          </p:cNvSpPr>
          <p:nvPr/>
        </p:nvSpPr>
        <p:spPr>
          <a:xfrm>
            <a:off x="2000250" y="2076450"/>
            <a:ext cx="971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75" b="1" dirty="0">
                <a:solidFill>
                  <a:srgbClr val="2A4D94"/>
                </a:solidFill>
                <a:latin typeface="Arial"/>
                <a:ea typeface="Arial"/>
                <a:cs typeface="Arial"/>
              </a:rPr>
              <a:t>Meeting Preparation Flow</a:t>
            </a:r>
          </a:p>
        </p:txBody>
      </p:sp>
      <p:sp>
        <p:nvSpPr>
          <p:cNvPr id="9" name="native-166">
            <a:extLst>
              <a:ext uri="{FF2B5EF4-FFF2-40B4-BE49-F238E27FC236}">
                <a16:creationId xmlns:a16="http://schemas.microsoft.com/office/drawing/2014/main" id="{01E0A791-1AED-42E1-89F6-E43158937DBD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714625" cy="0"/>
          </a:xfrm>
          <a:prstGeom prst="line">
            <a:avLst/>
          </a:prstGeom>
          <a:noFill/>
          <a:ln w="47625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ative-167">
            <a:extLst>
              <a:ext uri="{FF2B5EF4-FFF2-40B4-BE49-F238E27FC236}">
                <a16:creationId xmlns:a16="http://schemas.microsoft.com/office/drawing/2014/main" id="{157D2F6C-5DA2-4DE1-B592-6ACAE4E15966}"/>
              </a:ext>
            </a:extLst>
          </p:cNvPr>
          <p:cNvSpPr>
            <a:spLocks noGrp="1"/>
          </p:cNvSpPr>
          <p:nvPr/>
        </p:nvSpPr>
        <p:spPr>
          <a:xfrm>
            <a:off x="1876425" y="3057525"/>
            <a:ext cx="762000" cy="762000"/>
          </a:xfrm>
          <a:prstGeom prst="ellipse">
            <a:avLst/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native-168">
            <a:extLst>
              <a:ext uri="{FF2B5EF4-FFF2-40B4-BE49-F238E27FC236}">
                <a16:creationId xmlns:a16="http://schemas.microsoft.com/office/drawing/2014/main" id="{A076C125-DEE3-417E-BA2A-2D856E7AC797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D3B78"/>
                </a:solidFill>
                <a:latin typeface="Arial"/>
                <a:ea typeface="Arial"/>
                <a:cs typeface="Arial"/>
              </a:rPr>
              <a:t>Create Draft</a:t>
            </a:r>
          </a:p>
        </p:txBody>
      </p:sp>
      <p:sp>
        <p:nvSpPr>
          <p:cNvPr id="12" name="native-169">
            <a:extLst>
              <a:ext uri="{FF2B5EF4-FFF2-40B4-BE49-F238E27FC236}">
                <a16:creationId xmlns:a16="http://schemas.microsoft.com/office/drawing/2014/main" id="{7239B986-9667-44F0-8F7C-A01EBA1F2DB4}"/>
              </a:ext>
            </a:extLst>
          </p:cNvPr>
          <p:cNvSpPr>
            <a:spLocks noGrp="1"/>
          </p:cNvSpPr>
          <p:nvPr/>
        </p:nvSpPr>
        <p:spPr>
          <a:xfrm>
            <a:off x="952500" y="4943475"/>
            <a:ext cx="25908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Organizer creates a Draft Meeting and assigns the first Secretary.</a:t>
            </a:r>
          </a:p>
        </p:txBody>
      </p:sp>
      <p:sp>
        <p:nvSpPr>
          <p:cNvPr id="13" name="native-170">
            <a:extLst>
              <a:ext uri="{FF2B5EF4-FFF2-40B4-BE49-F238E27FC236}">
                <a16:creationId xmlns:a16="http://schemas.microsoft.com/office/drawing/2014/main" id="{C78FED4A-9389-4E18-96E8-23C3179C6E0B}"/>
              </a:ext>
            </a:extLst>
          </p:cNvPr>
          <p:cNvSpPr>
            <a:spLocks noGrp="1"/>
          </p:cNvSpPr>
          <p:nvPr/>
        </p:nvSpPr>
        <p:spPr>
          <a:xfrm>
            <a:off x="3533775" y="3409950"/>
            <a:ext cx="409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native-171">
            <a:extLst>
              <a:ext uri="{FF2B5EF4-FFF2-40B4-BE49-F238E27FC236}">
                <a16:creationId xmlns:a16="http://schemas.microsoft.com/office/drawing/2014/main" id="{EF150EF1-7108-4997-885C-01871ECA77B3}"/>
              </a:ext>
            </a:extLst>
          </p:cNvPr>
          <p:cNvSpPr>
            <a:spLocks noGrp="1"/>
          </p:cNvSpPr>
          <p:nvPr/>
        </p:nvSpPr>
        <p:spPr>
          <a:xfrm>
            <a:off x="3962400" y="2781300"/>
            <a:ext cx="2714625" cy="0"/>
          </a:xfrm>
          <a:prstGeom prst="line">
            <a:avLst/>
          </a:prstGeom>
          <a:noFill/>
          <a:ln w="47625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native-172">
            <a:extLst>
              <a:ext uri="{FF2B5EF4-FFF2-40B4-BE49-F238E27FC236}">
                <a16:creationId xmlns:a16="http://schemas.microsoft.com/office/drawing/2014/main" id="{DBA8A915-804D-4B5C-A3C5-9943FDC7476A}"/>
              </a:ext>
            </a:extLst>
          </p:cNvPr>
          <p:cNvSpPr>
            <a:spLocks noGrp="1"/>
          </p:cNvSpPr>
          <p:nvPr/>
        </p:nvSpPr>
        <p:spPr>
          <a:xfrm>
            <a:off x="4943475" y="3057525"/>
            <a:ext cx="762000" cy="762000"/>
          </a:xfrm>
          <a:prstGeom prst="ellipse">
            <a:avLst/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native-173">
            <a:extLst>
              <a:ext uri="{FF2B5EF4-FFF2-40B4-BE49-F238E27FC236}">
                <a16:creationId xmlns:a16="http://schemas.microsoft.com/office/drawing/2014/main" id="{C9E7BD1E-169E-4950-B299-A993C339B87D}"/>
              </a:ext>
            </a:extLst>
          </p:cNvPr>
          <p:cNvSpPr>
            <a:spLocks noGrp="1"/>
          </p:cNvSpPr>
          <p:nvPr/>
        </p:nvSpPr>
        <p:spPr>
          <a:xfrm>
            <a:off x="4019550" y="40767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D3B78"/>
                </a:solidFill>
                <a:latin typeface="Arial"/>
                <a:ea typeface="Arial"/>
                <a:cs typeface="Arial"/>
              </a:rPr>
              <a:t>Prepare Materials</a:t>
            </a:r>
          </a:p>
        </p:txBody>
      </p:sp>
      <p:sp>
        <p:nvSpPr>
          <p:cNvPr id="17" name="native-174">
            <a:extLst>
              <a:ext uri="{FF2B5EF4-FFF2-40B4-BE49-F238E27FC236}">
                <a16:creationId xmlns:a16="http://schemas.microsoft.com/office/drawing/2014/main" id="{3EA8E03C-C9C3-4E12-BCEE-6A449C75C97A}"/>
              </a:ext>
            </a:extLst>
          </p:cNvPr>
          <p:cNvSpPr>
            <a:spLocks noGrp="1"/>
          </p:cNvSpPr>
          <p:nvPr/>
        </p:nvSpPr>
        <p:spPr>
          <a:xfrm>
            <a:off x="4019550" y="4943475"/>
            <a:ext cx="25908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Secretary prepares agenda, participants and authorized documents; they stay editable throughout the flow.</a:t>
            </a:r>
          </a:p>
        </p:txBody>
      </p:sp>
      <p:sp>
        <p:nvSpPr>
          <p:cNvPr id="18" name="native-175">
            <a:extLst>
              <a:ext uri="{FF2B5EF4-FFF2-40B4-BE49-F238E27FC236}">
                <a16:creationId xmlns:a16="http://schemas.microsoft.com/office/drawing/2014/main" id="{CE7C896E-0984-47BE-9D81-C998CF1853D9}"/>
              </a:ext>
            </a:extLst>
          </p:cNvPr>
          <p:cNvSpPr>
            <a:spLocks noGrp="1"/>
          </p:cNvSpPr>
          <p:nvPr/>
        </p:nvSpPr>
        <p:spPr>
          <a:xfrm>
            <a:off x="6600825" y="3409950"/>
            <a:ext cx="409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native-176">
            <a:extLst>
              <a:ext uri="{FF2B5EF4-FFF2-40B4-BE49-F238E27FC236}">
                <a16:creationId xmlns:a16="http://schemas.microsoft.com/office/drawing/2014/main" id="{4C6F4E8D-7ADF-4A50-9EDB-650B504FBC41}"/>
              </a:ext>
            </a:extLst>
          </p:cNvPr>
          <p:cNvSpPr>
            <a:spLocks noGrp="1"/>
          </p:cNvSpPr>
          <p:nvPr/>
        </p:nvSpPr>
        <p:spPr>
          <a:xfrm>
            <a:off x="7029450" y="2781300"/>
            <a:ext cx="2714625" cy="0"/>
          </a:xfrm>
          <a:prstGeom prst="line">
            <a:avLst/>
          </a:prstGeom>
          <a:noFill/>
          <a:ln w="47625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native-177">
            <a:extLst>
              <a:ext uri="{FF2B5EF4-FFF2-40B4-BE49-F238E27FC236}">
                <a16:creationId xmlns:a16="http://schemas.microsoft.com/office/drawing/2014/main" id="{1DBDE88A-7790-4EED-9F8C-31969B993B16}"/>
              </a:ext>
            </a:extLst>
          </p:cNvPr>
          <p:cNvSpPr>
            <a:spLocks noGrp="1"/>
          </p:cNvSpPr>
          <p:nvPr/>
        </p:nvSpPr>
        <p:spPr>
          <a:xfrm>
            <a:off x="8010525" y="3057525"/>
            <a:ext cx="762000" cy="762000"/>
          </a:xfrm>
          <a:prstGeom prst="ellipse">
            <a:avLst/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native-178">
            <a:extLst>
              <a:ext uri="{FF2B5EF4-FFF2-40B4-BE49-F238E27FC236}">
                <a16:creationId xmlns:a16="http://schemas.microsoft.com/office/drawing/2014/main" id="{1382428F-7BCC-404B-B646-2F0C8645C110}"/>
              </a:ext>
            </a:extLst>
          </p:cNvPr>
          <p:cNvSpPr>
            <a:spLocks noGrp="1"/>
          </p:cNvSpPr>
          <p:nvPr/>
        </p:nvSpPr>
        <p:spPr>
          <a:xfrm>
            <a:off x="7086600" y="40767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D3B78"/>
                </a:solidFill>
                <a:latin typeface="Arial"/>
                <a:ea typeface="Arial"/>
                <a:cs typeface="Arial"/>
              </a:rPr>
              <a:t>Submit &amp; Review</a:t>
            </a:r>
          </a:p>
        </p:txBody>
      </p:sp>
      <p:sp>
        <p:nvSpPr>
          <p:cNvPr id="22" name="native-179">
            <a:extLst>
              <a:ext uri="{FF2B5EF4-FFF2-40B4-BE49-F238E27FC236}">
                <a16:creationId xmlns:a16="http://schemas.microsoft.com/office/drawing/2014/main" id="{6FE3DFE4-1416-4F19-ACE4-4F9877C9D65F}"/>
              </a:ext>
            </a:extLst>
          </p:cNvPr>
          <p:cNvSpPr>
            <a:spLocks noGrp="1"/>
          </p:cNvSpPr>
          <p:nvPr/>
        </p:nvSpPr>
        <p:spPr>
          <a:xfrm>
            <a:off x="7086600" y="4943475"/>
            <a:ext cx="25908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Organizer submits to the assigned Approver, who approves or rejects. A rejected Meeting can be revised and resubmitted.</a:t>
            </a:r>
          </a:p>
        </p:txBody>
      </p:sp>
      <p:sp>
        <p:nvSpPr>
          <p:cNvPr id="23" name="native-180">
            <a:extLst>
              <a:ext uri="{FF2B5EF4-FFF2-40B4-BE49-F238E27FC236}">
                <a16:creationId xmlns:a16="http://schemas.microsoft.com/office/drawing/2014/main" id="{D0C712F6-0454-4953-AFEC-D0D15241FDB1}"/>
              </a:ext>
            </a:extLst>
          </p:cNvPr>
          <p:cNvSpPr>
            <a:spLocks noGrp="1"/>
          </p:cNvSpPr>
          <p:nvPr/>
        </p:nvSpPr>
        <p:spPr>
          <a:xfrm>
            <a:off x="9667875" y="3409950"/>
            <a:ext cx="409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native-181">
            <a:extLst>
              <a:ext uri="{FF2B5EF4-FFF2-40B4-BE49-F238E27FC236}">
                <a16:creationId xmlns:a16="http://schemas.microsoft.com/office/drawing/2014/main" id="{750FE7DC-C90A-437F-809E-0B05F822B5E8}"/>
              </a:ext>
            </a:extLst>
          </p:cNvPr>
          <p:cNvSpPr>
            <a:spLocks noGrp="1"/>
          </p:cNvSpPr>
          <p:nvPr/>
        </p:nvSpPr>
        <p:spPr>
          <a:xfrm>
            <a:off x="10096500" y="2781300"/>
            <a:ext cx="2714625" cy="0"/>
          </a:xfrm>
          <a:prstGeom prst="line">
            <a:avLst/>
          </a:prstGeom>
          <a:noFill/>
          <a:ln w="47625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native-182">
            <a:extLst>
              <a:ext uri="{FF2B5EF4-FFF2-40B4-BE49-F238E27FC236}">
                <a16:creationId xmlns:a16="http://schemas.microsoft.com/office/drawing/2014/main" id="{BFCC86B7-F0E0-496A-9F97-4C94957130A8}"/>
              </a:ext>
            </a:extLst>
          </p:cNvPr>
          <p:cNvSpPr>
            <a:spLocks noGrp="1"/>
          </p:cNvSpPr>
          <p:nvPr/>
        </p:nvSpPr>
        <p:spPr>
          <a:xfrm>
            <a:off x="11077575" y="3057525"/>
            <a:ext cx="762000" cy="762000"/>
          </a:xfrm>
          <a:prstGeom prst="ellipse">
            <a:avLst/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native-183">
            <a:extLst>
              <a:ext uri="{FF2B5EF4-FFF2-40B4-BE49-F238E27FC236}">
                <a16:creationId xmlns:a16="http://schemas.microsoft.com/office/drawing/2014/main" id="{2BD0EB38-5027-4940-8741-946CE6FC5CE0}"/>
              </a:ext>
            </a:extLst>
          </p:cNvPr>
          <p:cNvSpPr>
            <a:spLocks noGrp="1"/>
          </p:cNvSpPr>
          <p:nvPr/>
        </p:nvSpPr>
        <p:spPr>
          <a:xfrm>
            <a:off x="10153650" y="40767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D3B78"/>
                </a:solidFill>
                <a:latin typeface="Arial"/>
                <a:ea typeface="Arial"/>
                <a:cs typeface="Arial"/>
              </a:rPr>
              <a:t>Publish Meeting</a:t>
            </a:r>
          </a:p>
        </p:txBody>
      </p:sp>
      <p:sp>
        <p:nvSpPr>
          <p:cNvPr id="27" name="native-184">
            <a:extLst>
              <a:ext uri="{FF2B5EF4-FFF2-40B4-BE49-F238E27FC236}">
                <a16:creationId xmlns:a16="http://schemas.microsoft.com/office/drawing/2014/main" id="{4CC43D4E-B059-4F16-B73B-35C5252E191D}"/>
              </a:ext>
            </a:extLst>
          </p:cNvPr>
          <p:cNvSpPr>
            <a:spLocks noGrp="1"/>
          </p:cNvSpPr>
          <p:nvPr/>
        </p:nvSpPr>
        <p:spPr>
          <a:xfrm>
            <a:off x="10153650" y="4943475"/>
            <a:ext cx="25908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Organizer publishes only after approval and issues invitations.</a:t>
            </a:r>
          </a:p>
        </p:txBody>
      </p:sp>
    </p:spTree>
    <p:extLst>
      <p:ext uri="{BB962C8B-B14F-4D97-AF65-F5344CB8AC3E}">
        <p14:creationId xmlns:p14="http://schemas.microsoft.com/office/powerpoint/2010/main" val="295338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native-185">
            <a:extLst>
              <a:ext uri="{FF2B5EF4-FFF2-40B4-BE49-F238E27FC236}">
                <a16:creationId xmlns:a16="http://schemas.microsoft.com/office/drawing/2014/main" id="{6D47A185-6BF4-4CD8-870F-662510328B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186">
            <a:extLst>
              <a:ext uri="{FF2B5EF4-FFF2-40B4-BE49-F238E27FC236}">
                <a16:creationId xmlns:a16="http://schemas.microsoft.com/office/drawing/2014/main" id="{19EE67FE-E64B-4116-8123-A6858F9E51FC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187">
            <a:extLst>
              <a:ext uri="{FF2B5EF4-FFF2-40B4-BE49-F238E27FC236}">
                <a16:creationId xmlns:a16="http://schemas.microsoft.com/office/drawing/2014/main" id="{0AC97A91-6EBF-4920-AE1C-06329D52E9D5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188">
            <a:extLst>
              <a:ext uri="{FF2B5EF4-FFF2-40B4-BE49-F238E27FC236}">
                <a16:creationId xmlns:a16="http://schemas.microsoft.com/office/drawing/2014/main" id="{22C650E6-CCE8-472C-9A85-94B8633BA9DF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12</a:t>
            </a:r>
          </a:p>
        </p:txBody>
      </p:sp>
      <p:sp>
        <p:nvSpPr>
          <p:cNvPr id="5" name="native-189">
            <a:extLst>
              <a:ext uri="{FF2B5EF4-FFF2-40B4-BE49-F238E27FC236}">
                <a16:creationId xmlns:a16="http://schemas.microsoft.com/office/drawing/2014/main" id="{15F9DCE0-6304-4E9E-85B6-1E5A1EAAD022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1A2433"/>
                </a:solidFill>
                <a:latin typeface="Arial"/>
                <a:ea typeface="Arial"/>
                <a:cs typeface="Arial"/>
              </a:rPr>
              <a:t>TrustCabinet</a:t>
            </a:r>
            <a:r>
              <a:rPr sz="3000" b="1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 — Meeting Execution &amp; </a:t>
            </a:r>
            <a:r>
              <a:rPr sz="3000" b="1" dirty="0">
                <a:solidFill>
                  <a:srgbClr val="2A4D94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  <p:sp>
        <p:nvSpPr>
          <p:cNvPr id="6" name="native-190">
            <a:extLst>
              <a:ext uri="{FF2B5EF4-FFF2-40B4-BE49-F238E27FC236}">
                <a16:creationId xmlns:a16="http://schemas.microsoft.com/office/drawing/2014/main" id="{72475EA3-F632-41E8-802D-382A77022F74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191">
            <a:extLst>
              <a:ext uri="{FF2B5EF4-FFF2-40B4-BE49-F238E27FC236}">
                <a16:creationId xmlns:a16="http://schemas.microsoft.com/office/drawing/2014/main" id="{B8109A3E-F0D2-42B7-93D3-9B7AB70F3E55}"/>
              </a:ext>
            </a:extLst>
          </p:cNvPr>
          <p:cNvSpPr>
            <a:spLocks noGrp="1"/>
          </p:cNvSpPr>
          <p:nvPr/>
        </p:nvSpPr>
        <p:spPr>
          <a:xfrm>
            <a:off x="619125" y="1876425"/>
            <a:ext cx="12477750" cy="4705350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9050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-192">
            <a:extLst>
              <a:ext uri="{FF2B5EF4-FFF2-40B4-BE49-F238E27FC236}">
                <a16:creationId xmlns:a16="http://schemas.microsoft.com/office/drawing/2014/main" id="{E7DA76F6-339F-41D6-AA7A-E7BA8C9828FC}"/>
              </a:ext>
            </a:extLst>
          </p:cNvPr>
          <p:cNvSpPr>
            <a:spLocks noGrp="1"/>
          </p:cNvSpPr>
          <p:nvPr/>
        </p:nvSpPr>
        <p:spPr>
          <a:xfrm>
            <a:off x="2000250" y="2076450"/>
            <a:ext cx="971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Meeting Completion Flow</a:t>
            </a:r>
          </a:p>
        </p:txBody>
      </p:sp>
      <p:sp>
        <p:nvSpPr>
          <p:cNvPr id="9" name="native-193">
            <a:extLst>
              <a:ext uri="{FF2B5EF4-FFF2-40B4-BE49-F238E27FC236}">
                <a16:creationId xmlns:a16="http://schemas.microsoft.com/office/drawing/2014/main" id="{BC259D47-A49C-43FE-BFED-A74EDD989B06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2714625" cy="0"/>
          </a:xfrm>
          <a:prstGeom prst="line">
            <a:avLst/>
          </a:prstGeom>
          <a:noFill/>
          <a:ln w="47625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ative-194">
            <a:extLst>
              <a:ext uri="{FF2B5EF4-FFF2-40B4-BE49-F238E27FC236}">
                <a16:creationId xmlns:a16="http://schemas.microsoft.com/office/drawing/2014/main" id="{02CA7342-EA44-46A3-95C5-B6F212DB52BB}"/>
              </a:ext>
            </a:extLst>
          </p:cNvPr>
          <p:cNvSpPr>
            <a:spLocks noGrp="1"/>
          </p:cNvSpPr>
          <p:nvPr/>
        </p:nvSpPr>
        <p:spPr>
          <a:xfrm>
            <a:off x="1876425" y="3057525"/>
            <a:ext cx="762000" cy="762000"/>
          </a:xfrm>
          <a:prstGeom prst="ellipse">
            <a:avLst/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native-195">
            <a:extLst>
              <a:ext uri="{FF2B5EF4-FFF2-40B4-BE49-F238E27FC236}">
                <a16:creationId xmlns:a16="http://schemas.microsoft.com/office/drawing/2014/main" id="{5ADAFC87-6423-47E6-B791-758DBAE304DF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D3B78"/>
                </a:solidFill>
                <a:latin typeface="Arial"/>
                <a:ea typeface="Arial"/>
                <a:cs typeface="Arial"/>
              </a:rPr>
              <a:t>Conduct Meeting</a:t>
            </a:r>
          </a:p>
        </p:txBody>
      </p:sp>
      <p:sp>
        <p:nvSpPr>
          <p:cNvPr id="12" name="native-196">
            <a:extLst>
              <a:ext uri="{FF2B5EF4-FFF2-40B4-BE49-F238E27FC236}">
                <a16:creationId xmlns:a16="http://schemas.microsoft.com/office/drawing/2014/main" id="{5D804E1D-C9CE-4781-A122-F86DBD260BF9}"/>
              </a:ext>
            </a:extLst>
          </p:cNvPr>
          <p:cNvSpPr>
            <a:spLocks noGrp="1"/>
          </p:cNvSpPr>
          <p:nvPr/>
        </p:nvSpPr>
        <p:spPr>
          <a:xfrm>
            <a:off x="952500" y="4943475"/>
            <a:ext cx="25908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Chair runs the agenda and manages votes while the Meeting is InProgress.</a:t>
            </a:r>
          </a:p>
        </p:txBody>
      </p:sp>
      <p:sp>
        <p:nvSpPr>
          <p:cNvPr id="13" name="native-197">
            <a:extLst>
              <a:ext uri="{FF2B5EF4-FFF2-40B4-BE49-F238E27FC236}">
                <a16:creationId xmlns:a16="http://schemas.microsoft.com/office/drawing/2014/main" id="{2703CBFE-AA42-4C6C-B2EC-4FE25CB85DC8}"/>
              </a:ext>
            </a:extLst>
          </p:cNvPr>
          <p:cNvSpPr>
            <a:spLocks noGrp="1"/>
          </p:cNvSpPr>
          <p:nvPr/>
        </p:nvSpPr>
        <p:spPr>
          <a:xfrm>
            <a:off x="3533775" y="3409950"/>
            <a:ext cx="409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native-198">
            <a:extLst>
              <a:ext uri="{FF2B5EF4-FFF2-40B4-BE49-F238E27FC236}">
                <a16:creationId xmlns:a16="http://schemas.microsoft.com/office/drawing/2014/main" id="{CC9A0D9E-92FC-4B48-8333-439650D2814E}"/>
              </a:ext>
            </a:extLst>
          </p:cNvPr>
          <p:cNvSpPr>
            <a:spLocks noGrp="1"/>
          </p:cNvSpPr>
          <p:nvPr/>
        </p:nvSpPr>
        <p:spPr>
          <a:xfrm>
            <a:off x="3962400" y="2781300"/>
            <a:ext cx="2714625" cy="0"/>
          </a:xfrm>
          <a:prstGeom prst="line">
            <a:avLst/>
          </a:prstGeom>
          <a:noFill/>
          <a:ln w="47625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native-199">
            <a:extLst>
              <a:ext uri="{FF2B5EF4-FFF2-40B4-BE49-F238E27FC236}">
                <a16:creationId xmlns:a16="http://schemas.microsoft.com/office/drawing/2014/main" id="{15C09FAC-C0ED-402E-B663-6C85A336D338}"/>
              </a:ext>
            </a:extLst>
          </p:cNvPr>
          <p:cNvSpPr>
            <a:spLocks noGrp="1"/>
          </p:cNvSpPr>
          <p:nvPr/>
        </p:nvSpPr>
        <p:spPr>
          <a:xfrm>
            <a:off x="4943475" y="3057525"/>
            <a:ext cx="762000" cy="762000"/>
          </a:xfrm>
          <a:prstGeom prst="ellipse">
            <a:avLst/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native-200">
            <a:extLst>
              <a:ext uri="{FF2B5EF4-FFF2-40B4-BE49-F238E27FC236}">
                <a16:creationId xmlns:a16="http://schemas.microsoft.com/office/drawing/2014/main" id="{5C8A2468-55FD-437C-B0BE-D24A0DDBB57F}"/>
              </a:ext>
            </a:extLst>
          </p:cNvPr>
          <p:cNvSpPr>
            <a:spLocks noGrp="1"/>
          </p:cNvSpPr>
          <p:nvPr/>
        </p:nvSpPr>
        <p:spPr>
          <a:xfrm>
            <a:off x="4019550" y="40767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D3B78"/>
                </a:solidFill>
                <a:latin typeface="Arial"/>
                <a:ea typeface="Arial"/>
                <a:cs typeface="Arial"/>
              </a:rPr>
              <a:t>Upload Audio</a:t>
            </a:r>
          </a:p>
        </p:txBody>
      </p:sp>
      <p:sp>
        <p:nvSpPr>
          <p:cNvPr id="17" name="native-201">
            <a:extLst>
              <a:ext uri="{FF2B5EF4-FFF2-40B4-BE49-F238E27FC236}">
                <a16:creationId xmlns:a16="http://schemas.microsoft.com/office/drawing/2014/main" id="{E588328C-F5C8-4504-92A5-A982E56D0ED5}"/>
              </a:ext>
            </a:extLst>
          </p:cNvPr>
          <p:cNvSpPr>
            <a:spLocks noGrp="1"/>
          </p:cNvSpPr>
          <p:nvPr/>
        </p:nvSpPr>
        <p:spPr>
          <a:xfrm>
            <a:off x="4019550" y="4943475"/>
            <a:ext cx="25908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After Ended, Secretary uploads audio with consent and retention safeguards.</a:t>
            </a:r>
          </a:p>
        </p:txBody>
      </p:sp>
      <p:sp>
        <p:nvSpPr>
          <p:cNvPr id="18" name="native-202">
            <a:extLst>
              <a:ext uri="{FF2B5EF4-FFF2-40B4-BE49-F238E27FC236}">
                <a16:creationId xmlns:a16="http://schemas.microsoft.com/office/drawing/2014/main" id="{2728A12F-9A06-4440-A774-5FB8CDF861C5}"/>
              </a:ext>
            </a:extLst>
          </p:cNvPr>
          <p:cNvSpPr>
            <a:spLocks noGrp="1"/>
          </p:cNvSpPr>
          <p:nvPr/>
        </p:nvSpPr>
        <p:spPr>
          <a:xfrm>
            <a:off x="6600825" y="3409950"/>
            <a:ext cx="409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native-203">
            <a:extLst>
              <a:ext uri="{FF2B5EF4-FFF2-40B4-BE49-F238E27FC236}">
                <a16:creationId xmlns:a16="http://schemas.microsoft.com/office/drawing/2014/main" id="{0DB9A1A4-9592-49F9-BA7B-DDDCB5DEE044}"/>
              </a:ext>
            </a:extLst>
          </p:cNvPr>
          <p:cNvSpPr>
            <a:spLocks noGrp="1"/>
          </p:cNvSpPr>
          <p:nvPr/>
        </p:nvSpPr>
        <p:spPr>
          <a:xfrm>
            <a:off x="7029450" y="2781300"/>
            <a:ext cx="2714625" cy="0"/>
          </a:xfrm>
          <a:prstGeom prst="line">
            <a:avLst/>
          </a:prstGeom>
          <a:noFill/>
          <a:ln w="47625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native-204">
            <a:extLst>
              <a:ext uri="{FF2B5EF4-FFF2-40B4-BE49-F238E27FC236}">
                <a16:creationId xmlns:a16="http://schemas.microsoft.com/office/drawing/2014/main" id="{EFDF8274-7F8E-4F6B-ADC6-C1B058A13D08}"/>
              </a:ext>
            </a:extLst>
          </p:cNvPr>
          <p:cNvSpPr>
            <a:spLocks noGrp="1"/>
          </p:cNvSpPr>
          <p:nvPr/>
        </p:nvSpPr>
        <p:spPr>
          <a:xfrm>
            <a:off x="8010525" y="3057525"/>
            <a:ext cx="762000" cy="762000"/>
          </a:xfrm>
          <a:prstGeom prst="ellipse">
            <a:avLst/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native-205">
            <a:extLst>
              <a:ext uri="{FF2B5EF4-FFF2-40B4-BE49-F238E27FC236}">
                <a16:creationId xmlns:a16="http://schemas.microsoft.com/office/drawing/2014/main" id="{F5AB42FE-EC20-46CC-959B-76034F934F9B}"/>
              </a:ext>
            </a:extLst>
          </p:cNvPr>
          <p:cNvSpPr>
            <a:spLocks noGrp="1"/>
          </p:cNvSpPr>
          <p:nvPr/>
        </p:nvSpPr>
        <p:spPr>
          <a:xfrm>
            <a:off x="7086600" y="40767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D3B78"/>
                </a:solidFill>
                <a:latin typeface="Arial"/>
                <a:ea typeface="Arial"/>
                <a:cs typeface="Arial"/>
              </a:rPr>
              <a:t>Review AI Output</a:t>
            </a:r>
          </a:p>
        </p:txBody>
      </p:sp>
      <p:sp>
        <p:nvSpPr>
          <p:cNvPr id="22" name="native-206">
            <a:extLst>
              <a:ext uri="{FF2B5EF4-FFF2-40B4-BE49-F238E27FC236}">
                <a16:creationId xmlns:a16="http://schemas.microsoft.com/office/drawing/2014/main" id="{7E5CD8C9-E3E6-448C-B983-581EE00E8372}"/>
              </a:ext>
            </a:extLst>
          </p:cNvPr>
          <p:cNvSpPr>
            <a:spLocks noGrp="1"/>
          </p:cNvSpPr>
          <p:nvPr/>
        </p:nvSpPr>
        <p:spPr>
          <a:xfrm>
            <a:off x="7086600" y="4943475"/>
            <a:ext cx="25908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Secretary corrects transcript, requests summary, then edits, approves and publishes it.</a:t>
            </a:r>
          </a:p>
        </p:txBody>
      </p:sp>
      <p:sp>
        <p:nvSpPr>
          <p:cNvPr id="23" name="native-207">
            <a:extLst>
              <a:ext uri="{FF2B5EF4-FFF2-40B4-BE49-F238E27FC236}">
                <a16:creationId xmlns:a16="http://schemas.microsoft.com/office/drawing/2014/main" id="{6FED4CE4-57BE-4532-AFAF-625AED4D5F75}"/>
              </a:ext>
            </a:extLst>
          </p:cNvPr>
          <p:cNvSpPr>
            <a:spLocks noGrp="1"/>
          </p:cNvSpPr>
          <p:nvPr/>
        </p:nvSpPr>
        <p:spPr>
          <a:xfrm>
            <a:off x="9667875" y="3409950"/>
            <a:ext cx="409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700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native-208">
            <a:extLst>
              <a:ext uri="{FF2B5EF4-FFF2-40B4-BE49-F238E27FC236}">
                <a16:creationId xmlns:a16="http://schemas.microsoft.com/office/drawing/2014/main" id="{0BE367C6-2EF5-4CA7-B61A-12B20E67DC92}"/>
              </a:ext>
            </a:extLst>
          </p:cNvPr>
          <p:cNvSpPr>
            <a:spLocks noGrp="1"/>
          </p:cNvSpPr>
          <p:nvPr/>
        </p:nvSpPr>
        <p:spPr>
          <a:xfrm>
            <a:off x="10096500" y="2781300"/>
            <a:ext cx="2714625" cy="0"/>
          </a:xfrm>
          <a:prstGeom prst="line">
            <a:avLst/>
          </a:prstGeom>
          <a:noFill/>
          <a:ln w="47625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native-209">
            <a:extLst>
              <a:ext uri="{FF2B5EF4-FFF2-40B4-BE49-F238E27FC236}">
                <a16:creationId xmlns:a16="http://schemas.microsoft.com/office/drawing/2014/main" id="{10229703-C859-4048-ACAB-BF12FBE0F9F2}"/>
              </a:ext>
            </a:extLst>
          </p:cNvPr>
          <p:cNvSpPr>
            <a:spLocks noGrp="1"/>
          </p:cNvSpPr>
          <p:nvPr/>
        </p:nvSpPr>
        <p:spPr>
          <a:xfrm>
            <a:off x="11077575" y="3057525"/>
            <a:ext cx="762000" cy="762000"/>
          </a:xfrm>
          <a:prstGeom prst="ellipse">
            <a:avLst/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native-210">
            <a:extLst>
              <a:ext uri="{FF2B5EF4-FFF2-40B4-BE49-F238E27FC236}">
                <a16:creationId xmlns:a16="http://schemas.microsoft.com/office/drawing/2014/main" id="{B85B899C-E2CB-404D-9D6E-7BF660876972}"/>
              </a:ext>
            </a:extLst>
          </p:cNvPr>
          <p:cNvSpPr>
            <a:spLocks noGrp="1"/>
          </p:cNvSpPr>
          <p:nvPr/>
        </p:nvSpPr>
        <p:spPr>
          <a:xfrm>
            <a:off x="10153650" y="4076700"/>
            <a:ext cx="2590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D3B78"/>
                </a:solidFill>
                <a:latin typeface="Arial"/>
                <a:ea typeface="Arial"/>
                <a:cs typeface="Arial"/>
              </a:rPr>
              <a:t>Sign &amp; Seal</a:t>
            </a:r>
          </a:p>
        </p:txBody>
      </p:sp>
      <p:sp>
        <p:nvSpPr>
          <p:cNvPr id="27" name="native-211">
            <a:extLst>
              <a:ext uri="{FF2B5EF4-FFF2-40B4-BE49-F238E27FC236}">
                <a16:creationId xmlns:a16="http://schemas.microsoft.com/office/drawing/2014/main" id="{461947DF-A6C0-4E3F-8AB2-31ADB14E96F6}"/>
              </a:ext>
            </a:extLst>
          </p:cNvPr>
          <p:cNvSpPr>
            <a:spLocks noGrp="1"/>
          </p:cNvSpPr>
          <p:nvPr/>
        </p:nvSpPr>
        <p:spPr>
          <a:xfrm>
            <a:off x="10153650" y="4943475"/>
            <a:ext cx="25908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Secretary prepares minutes. Designated signers sign. Secretary seals after all sign.</a:t>
            </a:r>
          </a:p>
        </p:txBody>
      </p:sp>
    </p:spTree>
    <p:extLst>
      <p:ext uri="{BB962C8B-B14F-4D97-AF65-F5344CB8AC3E}">
        <p14:creationId xmlns:p14="http://schemas.microsoft.com/office/powerpoint/2010/main" val="1128106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native-212">
            <a:extLst>
              <a:ext uri="{FF2B5EF4-FFF2-40B4-BE49-F238E27FC236}">
                <a16:creationId xmlns:a16="http://schemas.microsoft.com/office/drawing/2014/main" id="{96F19241-20BA-4AD9-A12D-9010FB5595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213">
            <a:extLst>
              <a:ext uri="{FF2B5EF4-FFF2-40B4-BE49-F238E27FC236}">
                <a16:creationId xmlns:a16="http://schemas.microsoft.com/office/drawing/2014/main" id="{B560844F-158C-4520-9A87-E36A395F4738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214">
            <a:extLst>
              <a:ext uri="{FF2B5EF4-FFF2-40B4-BE49-F238E27FC236}">
                <a16:creationId xmlns:a16="http://schemas.microsoft.com/office/drawing/2014/main" id="{1DCEC84F-C069-4621-A8F8-1E268E57B740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215">
            <a:extLst>
              <a:ext uri="{FF2B5EF4-FFF2-40B4-BE49-F238E27FC236}">
                <a16:creationId xmlns:a16="http://schemas.microsoft.com/office/drawing/2014/main" id="{C014700E-5526-4CD0-837D-EC885BFC5DC5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13</a:t>
            </a:r>
          </a:p>
        </p:txBody>
      </p:sp>
      <p:sp>
        <p:nvSpPr>
          <p:cNvPr id="5" name="native-216">
            <a:extLst>
              <a:ext uri="{FF2B5EF4-FFF2-40B4-BE49-F238E27FC236}">
                <a16:creationId xmlns:a16="http://schemas.microsoft.com/office/drawing/2014/main" id="{0A2F3C46-2AC6-49FB-B5AD-8122FD9B778E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04. Major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6" name="native-217">
            <a:extLst>
              <a:ext uri="{FF2B5EF4-FFF2-40B4-BE49-F238E27FC236}">
                <a16:creationId xmlns:a16="http://schemas.microsoft.com/office/drawing/2014/main" id="{6A15E233-F346-46E6-A977-D278E152E619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218">
            <a:extLst>
              <a:ext uri="{FF2B5EF4-FFF2-40B4-BE49-F238E27FC236}">
                <a16:creationId xmlns:a16="http://schemas.microsoft.com/office/drawing/2014/main" id="{3BA4AC01-3434-41DB-B803-F31FA0AB9EF7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2905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A4D94"/>
                </a:solidFill>
                <a:latin typeface="Arial"/>
                <a:ea typeface="Arial"/>
                <a:cs typeface="Arial"/>
              </a:rPr>
              <a:t>Identity &amp; Access</a:t>
            </a:r>
          </a:p>
        </p:txBody>
      </p:sp>
      <p:sp>
        <p:nvSpPr>
          <p:cNvPr id="8" name="native-219">
            <a:extLst>
              <a:ext uri="{FF2B5EF4-FFF2-40B4-BE49-F238E27FC236}">
                <a16:creationId xmlns:a16="http://schemas.microsoft.com/office/drawing/2014/main" id="{9C0AA10F-44DA-4409-95A7-8DEE0A102039}"/>
              </a:ext>
            </a:extLst>
          </p:cNvPr>
          <p:cNvSpPr>
            <a:spLocks noGrp="1"/>
          </p:cNvSpPr>
          <p:nvPr/>
        </p:nvSpPr>
        <p:spPr>
          <a:xfrm>
            <a:off x="714375" y="2638425"/>
            <a:ext cx="2876550" cy="0"/>
          </a:xfrm>
          <a:prstGeom prst="line">
            <a:avLst/>
          </a:prstGeom>
          <a:noFill/>
          <a:ln w="19050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ative-220">
            <a:extLst>
              <a:ext uri="{FF2B5EF4-FFF2-40B4-BE49-F238E27FC236}">
                <a16:creationId xmlns:a16="http://schemas.microsoft.com/office/drawing/2014/main" id="{20A38067-E8E8-41E3-AA70-4A38524A5142}"/>
              </a:ext>
            </a:extLst>
          </p:cNvPr>
          <p:cNvSpPr>
            <a:spLocks noGrp="1"/>
          </p:cNvSpPr>
          <p:nvPr/>
        </p:nvSpPr>
        <p:spPr>
          <a:xfrm>
            <a:off x="714375" y="29337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FE-01 Authentication</a:t>
            </a:r>
          </a:p>
        </p:txBody>
      </p:sp>
      <p:sp>
        <p:nvSpPr>
          <p:cNvPr id="10" name="native-221">
            <a:extLst>
              <a:ext uri="{FF2B5EF4-FFF2-40B4-BE49-F238E27FC236}">
                <a16:creationId xmlns:a16="http://schemas.microsoft.com/office/drawing/2014/main" id="{58E4FC53-3279-4C1B-99C9-00CE951D9FAB}"/>
              </a:ext>
            </a:extLst>
          </p:cNvPr>
          <p:cNvSpPr>
            <a:spLocks noGrp="1"/>
          </p:cNvSpPr>
          <p:nvPr/>
        </p:nvSpPr>
        <p:spPr>
          <a:xfrm>
            <a:off x="714375" y="35718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FE-02 User &amp; Profile</a:t>
            </a:r>
          </a:p>
        </p:txBody>
      </p:sp>
      <p:sp>
        <p:nvSpPr>
          <p:cNvPr id="11" name="native-222">
            <a:extLst>
              <a:ext uri="{FF2B5EF4-FFF2-40B4-BE49-F238E27FC236}">
                <a16:creationId xmlns:a16="http://schemas.microsoft.com/office/drawing/2014/main" id="{B7C6279B-2C14-443D-BAF4-BE5DECEDAE0C}"/>
              </a:ext>
            </a:extLst>
          </p:cNvPr>
          <p:cNvSpPr>
            <a:spLocks noGrp="1"/>
          </p:cNvSpPr>
          <p:nvPr/>
        </p:nvSpPr>
        <p:spPr>
          <a:xfrm>
            <a:off x="714375" y="42100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FE-03 Role-Based Access Control</a:t>
            </a:r>
          </a:p>
        </p:txBody>
      </p:sp>
      <p:sp>
        <p:nvSpPr>
          <p:cNvPr id="12" name="native-223">
            <a:extLst>
              <a:ext uri="{FF2B5EF4-FFF2-40B4-BE49-F238E27FC236}">
                <a16:creationId xmlns:a16="http://schemas.microsoft.com/office/drawing/2014/main" id="{86751335-EB1A-43EC-A2BD-477C29916B93}"/>
              </a:ext>
            </a:extLst>
          </p:cNvPr>
          <p:cNvSpPr>
            <a:spLocks noGrp="1"/>
          </p:cNvSpPr>
          <p:nvPr/>
        </p:nvSpPr>
        <p:spPr>
          <a:xfrm>
            <a:off x="3952875" y="1952625"/>
            <a:ext cx="2905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A4D94"/>
                </a:solidFill>
                <a:latin typeface="Arial"/>
                <a:ea typeface="Arial"/>
                <a:cs typeface="Arial"/>
              </a:rPr>
              <a:t>Meeting Operations</a:t>
            </a:r>
          </a:p>
        </p:txBody>
      </p:sp>
      <p:sp>
        <p:nvSpPr>
          <p:cNvPr id="13" name="native-224">
            <a:extLst>
              <a:ext uri="{FF2B5EF4-FFF2-40B4-BE49-F238E27FC236}">
                <a16:creationId xmlns:a16="http://schemas.microsoft.com/office/drawing/2014/main" id="{DB40F219-7964-4C8E-9E0E-1EE276B90CAD}"/>
              </a:ext>
            </a:extLst>
          </p:cNvPr>
          <p:cNvSpPr>
            <a:spLocks noGrp="1"/>
          </p:cNvSpPr>
          <p:nvPr/>
        </p:nvSpPr>
        <p:spPr>
          <a:xfrm>
            <a:off x="3952875" y="2638425"/>
            <a:ext cx="2876550" cy="0"/>
          </a:xfrm>
          <a:prstGeom prst="line">
            <a:avLst/>
          </a:prstGeom>
          <a:noFill/>
          <a:ln w="19050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ative-225">
            <a:extLst>
              <a:ext uri="{FF2B5EF4-FFF2-40B4-BE49-F238E27FC236}">
                <a16:creationId xmlns:a16="http://schemas.microsoft.com/office/drawing/2014/main" id="{E3F609A6-B0BA-41DD-9512-426824908834}"/>
              </a:ext>
            </a:extLst>
          </p:cNvPr>
          <p:cNvSpPr>
            <a:spLocks noGrp="1"/>
          </p:cNvSpPr>
          <p:nvPr/>
        </p:nvSpPr>
        <p:spPr>
          <a:xfrm>
            <a:off x="3952875" y="29337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FE-04 Meeting Management</a:t>
            </a:r>
          </a:p>
        </p:txBody>
      </p:sp>
      <p:sp>
        <p:nvSpPr>
          <p:cNvPr id="15" name="native-226">
            <a:extLst>
              <a:ext uri="{FF2B5EF4-FFF2-40B4-BE49-F238E27FC236}">
                <a16:creationId xmlns:a16="http://schemas.microsoft.com/office/drawing/2014/main" id="{CA32C6F7-D8E8-4457-B5E9-0A98AE71B83F}"/>
              </a:ext>
            </a:extLst>
          </p:cNvPr>
          <p:cNvSpPr>
            <a:spLocks noGrp="1"/>
          </p:cNvSpPr>
          <p:nvPr/>
        </p:nvSpPr>
        <p:spPr>
          <a:xfrm>
            <a:off x="3952875" y="35718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FE-05 Agenda</a:t>
            </a:r>
          </a:p>
        </p:txBody>
      </p:sp>
      <p:sp>
        <p:nvSpPr>
          <p:cNvPr id="16" name="native-227">
            <a:extLst>
              <a:ext uri="{FF2B5EF4-FFF2-40B4-BE49-F238E27FC236}">
                <a16:creationId xmlns:a16="http://schemas.microsoft.com/office/drawing/2014/main" id="{55B7E0D1-E3D7-4D46-BBE0-2839DD733F53}"/>
              </a:ext>
            </a:extLst>
          </p:cNvPr>
          <p:cNvSpPr>
            <a:spLocks noGrp="1"/>
          </p:cNvSpPr>
          <p:nvPr/>
        </p:nvSpPr>
        <p:spPr>
          <a:xfrm>
            <a:off x="3952875" y="42100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FE-06 Participants</a:t>
            </a:r>
          </a:p>
        </p:txBody>
      </p:sp>
      <p:sp>
        <p:nvSpPr>
          <p:cNvPr id="17" name="native-228">
            <a:extLst>
              <a:ext uri="{FF2B5EF4-FFF2-40B4-BE49-F238E27FC236}">
                <a16:creationId xmlns:a16="http://schemas.microsoft.com/office/drawing/2014/main" id="{5CA8EAED-33F9-4B04-8F71-6266D41A9A67}"/>
              </a:ext>
            </a:extLst>
          </p:cNvPr>
          <p:cNvSpPr>
            <a:spLocks noGrp="1"/>
          </p:cNvSpPr>
          <p:nvPr/>
        </p:nvSpPr>
        <p:spPr>
          <a:xfrm>
            <a:off x="3952875" y="484822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FE-07 Documents</a:t>
            </a:r>
          </a:p>
        </p:txBody>
      </p:sp>
      <p:sp>
        <p:nvSpPr>
          <p:cNvPr id="18" name="native-229">
            <a:extLst>
              <a:ext uri="{FF2B5EF4-FFF2-40B4-BE49-F238E27FC236}">
                <a16:creationId xmlns:a16="http://schemas.microsoft.com/office/drawing/2014/main" id="{65B299D3-C5D5-4C57-B45B-BCE14C6DC566}"/>
              </a:ext>
            </a:extLst>
          </p:cNvPr>
          <p:cNvSpPr>
            <a:spLocks noGrp="1"/>
          </p:cNvSpPr>
          <p:nvPr/>
        </p:nvSpPr>
        <p:spPr>
          <a:xfrm>
            <a:off x="3952875" y="54864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FE-08 Online Meeting Room</a:t>
            </a:r>
          </a:p>
        </p:txBody>
      </p:sp>
      <p:sp>
        <p:nvSpPr>
          <p:cNvPr id="19" name="native-230">
            <a:extLst>
              <a:ext uri="{FF2B5EF4-FFF2-40B4-BE49-F238E27FC236}">
                <a16:creationId xmlns:a16="http://schemas.microsoft.com/office/drawing/2014/main" id="{8C844D5F-195F-4ADA-BA9C-1983BD03101C}"/>
              </a:ext>
            </a:extLst>
          </p:cNvPr>
          <p:cNvSpPr>
            <a:spLocks noGrp="1"/>
          </p:cNvSpPr>
          <p:nvPr/>
        </p:nvSpPr>
        <p:spPr>
          <a:xfrm>
            <a:off x="7191375" y="1952625"/>
            <a:ext cx="2905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A4D94"/>
                </a:solidFill>
                <a:latin typeface="Arial"/>
                <a:ea typeface="Arial"/>
                <a:cs typeface="Arial"/>
              </a:rPr>
              <a:t>Meeting Intelligence</a:t>
            </a:r>
          </a:p>
        </p:txBody>
      </p:sp>
      <p:sp>
        <p:nvSpPr>
          <p:cNvPr id="20" name="native-231">
            <a:extLst>
              <a:ext uri="{FF2B5EF4-FFF2-40B4-BE49-F238E27FC236}">
                <a16:creationId xmlns:a16="http://schemas.microsoft.com/office/drawing/2014/main" id="{7D79CC77-44C2-4264-9A0C-BAF238472550}"/>
              </a:ext>
            </a:extLst>
          </p:cNvPr>
          <p:cNvSpPr>
            <a:spLocks noGrp="1"/>
          </p:cNvSpPr>
          <p:nvPr/>
        </p:nvSpPr>
        <p:spPr>
          <a:xfrm>
            <a:off x="7191375" y="2638425"/>
            <a:ext cx="2876550" cy="0"/>
          </a:xfrm>
          <a:prstGeom prst="line">
            <a:avLst/>
          </a:prstGeom>
          <a:noFill/>
          <a:ln w="19050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native-232">
            <a:extLst>
              <a:ext uri="{FF2B5EF4-FFF2-40B4-BE49-F238E27FC236}">
                <a16:creationId xmlns:a16="http://schemas.microsoft.com/office/drawing/2014/main" id="{40FEB26B-262D-4BB4-BBAA-33A6F61CE2BC}"/>
              </a:ext>
            </a:extLst>
          </p:cNvPr>
          <p:cNvSpPr>
            <a:spLocks noGrp="1"/>
          </p:cNvSpPr>
          <p:nvPr/>
        </p:nvSpPr>
        <p:spPr>
          <a:xfrm>
            <a:off x="7191375" y="29337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FE-09 Audio Upload</a:t>
            </a:r>
          </a:p>
        </p:txBody>
      </p:sp>
      <p:sp>
        <p:nvSpPr>
          <p:cNvPr id="22" name="native-233">
            <a:extLst>
              <a:ext uri="{FF2B5EF4-FFF2-40B4-BE49-F238E27FC236}">
                <a16:creationId xmlns:a16="http://schemas.microsoft.com/office/drawing/2014/main" id="{13ADA467-A2C3-40C9-974F-6ED0EDFB21E9}"/>
              </a:ext>
            </a:extLst>
          </p:cNvPr>
          <p:cNvSpPr>
            <a:spLocks noGrp="1"/>
          </p:cNvSpPr>
          <p:nvPr/>
        </p:nvSpPr>
        <p:spPr>
          <a:xfrm>
            <a:off x="7191375" y="35718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FE-10 Transcript &amp; Summary</a:t>
            </a:r>
          </a:p>
        </p:txBody>
      </p:sp>
      <p:sp>
        <p:nvSpPr>
          <p:cNvPr id="23" name="native-234">
            <a:extLst>
              <a:ext uri="{FF2B5EF4-FFF2-40B4-BE49-F238E27FC236}">
                <a16:creationId xmlns:a16="http://schemas.microsoft.com/office/drawing/2014/main" id="{DC817DFA-0AB6-49C6-83D1-668165B47EBB}"/>
              </a:ext>
            </a:extLst>
          </p:cNvPr>
          <p:cNvSpPr>
            <a:spLocks noGrp="1"/>
          </p:cNvSpPr>
          <p:nvPr/>
        </p:nvSpPr>
        <p:spPr>
          <a:xfrm>
            <a:off x="10429875" y="1952625"/>
            <a:ext cx="2905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2A4D94"/>
                </a:solidFill>
                <a:latin typeface="Arial"/>
                <a:ea typeface="Arial"/>
                <a:cs typeface="Arial"/>
              </a:rPr>
              <a:t>Governance &amp; Visibility</a:t>
            </a:r>
          </a:p>
        </p:txBody>
      </p:sp>
      <p:sp>
        <p:nvSpPr>
          <p:cNvPr id="24" name="native-235">
            <a:extLst>
              <a:ext uri="{FF2B5EF4-FFF2-40B4-BE49-F238E27FC236}">
                <a16:creationId xmlns:a16="http://schemas.microsoft.com/office/drawing/2014/main" id="{832FC66E-A0AA-4E37-8832-563F6385C14E}"/>
              </a:ext>
            </a:extLst>
          </p:cNvPr>
          <p:cNvSpPr>
            <a:spLocks noGrp="1"/>
          </p:cNvSpPr>
          <p:nvPr/>
        </p:nvSpPr>
        <p:spPr>
          <a:xfrm>
            <a:off x="10429875" y="2638425"/>
            <a:ext cx="2876550" cy="0"/>
          </a:xfrm>
          <a:prstGeom prst="line">
            <a:avLst/>
          </a:prstGeom>
          <a:noFill/>
          <a:ln w="19050">
            <a:solidFill>
              <a:srgbClr val="2A4D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native-236">
            <a:extLst>
              <a:ext uri="{FF2B5EF4-FFF2-40B4-BE49-F238E27FC236}">
                <a16:creationId xmlns:a16="http://schemas.microsoft.com/office/drawing/2014/main" id="{FAFBE3F2-3626-440F-ACCD-CD863D2DFF97}"/>
              </a:ext>
            </a:extLst>
          </p:cNvPr>
          <p:cNvSpPr>
            <a:spLocks noGrp="1"/>
          </p:cNvSpPr>
          <p:nvPr/>
        </p:nvSpPr>
        <p:spPr>
          <a:xfrm>
            <a:off x="10429875" y="29337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FE-11 Voting</a:t>
            </a:r>
          </a:p>
        </p:txBody>
      </p:sp>
      <p:sp>
        <p:nvSpPr>
          <p:cNvPr id="26" name="native-237">
            <a:extLst>
              <a:ext uri="{FF2B5EF4-FFF2-40B4-BE49-F238E27FC236}">
                <a16:creationId xmlns:a16="http://schemas.microsoft.com/office/drawing/2014/main" id="{5D30BC08-B3F5-482B-978B-150DACD70E28}"/>
              </a:ext>
            </a:extLst>
          </p:cNvPr>
          <p:cNvSpPr>
            <a:spLocks noGrp="1"/>
          </p:cNvSpPr>
          <p:nvPr/>
        </p:nvSpPr>
        <p:spPr>
          <a:xfrm>
            <a:off x="10429875" y="35718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FE-12 Minutes &amp; Signing</a:t>
            </a:r>
          </a:p>
        </p:txBody>
      </p:sp>
      <p:sp>
        <p:nvSpPr>
          <p:cNvPr id="27" name="native-238">
            <a:extLst>
              <a:ext uri="{FF2B5EF4-FFF2-40B4-BE49-F238E27FC236}">
                <a16:creationId xmlns:a16="http://schemas.microsoft.com/office/drawing/2014/main" id="{5E4B2E35-74B5-46D2-B1F9-7FE0D6A9F01F}"/>
              </a:ext>
            </a:extLst>
          </p:cNvPr>
          <p:cNvSpPr>
            <a:spLocks noGrp="1"/>
          </p:cNvSpPr>
          <p:nvPr/>
        </p:nvSpPr>
        <p:spPr>
          <a:xfrm>
            <a:off x="10429875" y="421005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FE-13 Notifications</a:t>
            </a:r>
          </a:p>
        </p:txBody>
      </p:sp>
      <p:sp>
        <p:nvSpPr>
          <p:cNvPr id="28" name="native-239">
            <a:extLst>
              <a:ext uri="{FF2B5EF4-FFF2-40B4-BE49-F238E27FC236}">
                <a16:creationId xmlns:a16="http://schemas.microsoft.com/office/drawing/2014/main" id="{D1F61B30-EBAB-4AB9-B6C5-456F9C7F53F7}"/>
              </a:ext>
            </a:extLst>
          </p:cNvPr>
          <p:cNvSpPr>
            <a:spLocks noGrp="1"/>
          </p:cNvSpPr>
          <p:nvPr/>
        </p:nvSpPr>
        <p:spPr>
          <a:xfrm>
            <a:off x="10429875" y="484822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FE-14 Dashboard</a:t>
            </a:r>
          </a:p>
        </p:txBody>
      </p:sp>
      <p:sp>
        <p:nvSpPr>
          <p:cNvPr id="29" name="native-240">
            <a:extLst>
              <a:ext uri="{FF2B5EF4-FFF2-40B4-BE49-F238E27FC236}">
                <a16:creationId xmlns:a16="http://schemas.microsoft.com/office/drawing/2014/main" id="{11D2681A-9BBD-4E82-8F37-83EF2478EA5B}"/>
              </a:ext>
            </a:extLst>
          </p:cNvPr>
          <p:cNvSpPr>
            <a:spLocks noGrp="1"/>
          </p:cNvSpPr>
          <p:nvPr/>
        </p:nvSpPr>
        <p:spPr>
          <a:xfrm>
            <a:off x="10429875" y="54864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FE-15 Reports</a:t>
            </a:r>
          </a:p>
        </p:txBody>
      </p:sp>
      <p:sp>
        <p:nvSpPr>
          <p:cNvPr id="30" name="native-241">
            <a:extLst>
              <a:ext uri="{FF2B5EF4-FFF2-40B4-BE49-F238E27FC236}">
                <a16:creationId xmlns:a16="http://schemas.microsoft.com/office/drawing/2014/main" id="{865C6EE4-0D54-449B-A42F-72D9C394E624}"/>
              </a:ext>
            </a:extLst>
          </p:cNvPr>
          <p:cNvSpPr>
            <a:spLocks noGrp="1"/>
          </p:cNvSpPr>
          <p:nvPr/>
        </p:nvSpPr>
        <p:spPr>
          <a:xfrm>
            <a:off x="723900" y="6724650"/>
            <a:ext cx="1209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D3B78"/>
                </a:solidFill>
                <a:latin typeface="Arial"/>
                <a:ea typeface="Arial"/>
                <a:cs typeface="Arial"/>
              </a:defRPr>
            </a:pPr>
            <a:endParaRPr sz="2025" b="1" dirty="0">
              <a:solidFill>
                <a:srgbClr val="1D3B7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1559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tive-242">
            <a:extLst>
              <a:ext uri="{FF2B5EF4-FFF2-40B4-BE49-F238E27FC236}">
                <a16:creationId xmlns:a16="http://schemas.microsoft.com/office/drawing/2014/main" id="{8AF65E3C-AD9A-4404-9FB4-09213679BD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native-243">
            <a:extLst>
              <a:ext uri="{FF2B5EF4-FFF2-40B4-BE49-F238E27FC236}">
                <a16:creationId xmlns:a16="http://schemas.microsoft.com/office/drawing/2014/main" id="{A5D23C7E-9FD9-4D2E-9138-AB974FEA3639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native-244">
            <a:extLst>
              <a:ext uri="{FF2B5EF4-FFF2-40B4-BE49-F238E27FC236}">
                <a16:creationId xmlns:a16="http://schemas.microsoft.com/office/drawing/2014/main" id="{78B699EC-8CE1-46F5-8962-CB2FDB9C4CB7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2333625" cy="2381250"/>
          </a:xfrm>
          <a:prstGeom prst="rtTriangle">
            <a:avLst/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native-245">
            <a:extLst>
              <a:ext uri="{FF2B5EF4-FFF2-40B4-BE49-F238E27FC236}">
                <a16:creationId xmlns:a16="http://schemas.microsoft.com/office/drawing/2014/main" id="{85B7F0D9-9085-472A-A588-272F00F986FE}"/>
              </a:ext>
            </a:extLst>
          </p:cNvPr>
          <p:cNvSpPr>
            <a:spLocks noGrp="1"/>
          </p:cNvSpPr>
          <p:nvPr/>
        </p:nvSpPr>
        <p:spPr>
          <a:xfrm rot="16200000">
            <a:off x="11525250" y="5238750"/>
            <a:ext cx="2190750" cy="247650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native-246">
            <a:extLst>
              <a:ext uri="{FF2B5EF4-FFF2-40B4-BE49-F238E27FC236}">
                <a16:creationId xmlns:a16="http://schemas.microsoft.com/office/drawing/2014/main" id="{7FC3BCF9-8CA3-4317-927F-FF69A94AA340}"/>
              </a:ext>
            </a:extLst>
          </p:cNvPr>
          <p:cNvSpPr>
            <a:spLocks noGrp="1"/>
          </p:cNvSpPr>
          <p:nvPr/>
        </p:nvSpPr>
        <p:spPr>
          <a:xfrm>
            <a:off x="781050" y="7486650"/>
            <a:ext cx="11953875" cy="400050"/>
          </a:xfrm>
          <a:prstGeom prst="roundRect">
            <a:avLst>
              <a:gd name="adj" fmla="val 19048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native-247">
            <a:extLst>
              <a:ext uri="{FF2B5EF4-FFF2-40B4-BE49-F238E27FC236}">
                <a16:creationId xmlns:a16="http://schemas.microsoft.com/office/drawing/2014/main" id="{BBE75B6C-53DA-48C3-BC60-1261DA65B853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14</a:t>
            </a:r>
          </a:p>
        </p:txBody>
      </p:sp>
      <p:sp>
        <p:nvSpPr>
          <p:cNvPr id="9" name="native-248">
            <a:extLst>
              <a:ext uri="{FF2B5EF4-FFF2-40B4-BE49-F238E27FC236}">
                <a16:creationId xmlns:a16="http://schemas.microsoft.com/office/drawing/2014/main" id="{8C585CE5-646E-4658-B37D-801937451BBE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05. Out of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0" name="native-249">
            <a:extLst>
              <a:ext uri="{FF2B5EF4-FFF2-40B4-BE49-F238E27FC236}">
                <a16:creationId xmlns:a16="http://schemas.microsoft.com/office/drawing/2014/main" id="{97D97CE9-7493-4EA9-B663-A2DD758F2503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native-250">
            <a:extLst>
              <a:ext uri="{FF2B5EF4-FFF2-40B4-BE49-F238E27FC236}">
                <a16:creationId xmlns:a16="http://schemas.microsoft.com/office/drawing/2014/main" id="{778D3656-9755-4A74-8379-73E8B6FFDD62}"/>
              </a:ext>
            </a:extLst>
          </p:cNvPr>
          <p:cNvSpPr>
            <a:spLocks noGrp="1"/>
          </p:cNvSpPr>
          <p:nvPr/>
        </p:nvSpPr>
        <p:spPr>
          <a:xfrm>
            <a:off x="934883" y="1874519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native-251">
            <a:extLst>
              <a:ext uri="{FF2B5EF4-FFF2-40B4-BE49-F238E27FC236}">
                <a16:creationId xmlns:a16="http://schemas.microsoft.com/office/drawing/2014/main" id="{37832730-2AB8-4479-8F00-26858874869A}"/>
              </a:ext>
            </a:extLst>
          </p:cNvPr>
          <p:cNvSpPr>
            <a:spLocks noGrp="1"/>
          </p:cNvSpPr>
          <p:nvPr/>
        </p:nvSpPr>
        <p:spPr>
          <a:xfrm>
            <a:off x="1220633" y="1874519"/>
            <a:ext cx="1152525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No automatic or server-side recording: the Secretary uploads audio after the meeting (LI-01).</a:t>
            </a:r>
          </a:p>
        </p:txBody>
      </p:sp>
      <p:sp>
        <p:nvSpPr>
          <p:cNvPr id="13" name="native-252">
            <a:extLst>
              <a:ext uri="{FF2B5EF4-FFF2-40B4-BE49-F238E27FC236}">
                <a16:creationId xmlns:a16="http://schemas.microsoft.com/office/drawing/2014/main" id="{1DA0014E-51D6-4D57-99DF-556A8414E5FF}"/>
              </a:ext>
            </a:extLst>
          </p:cNvPr>
          <p:cNvSpPr>
            <a:spLocks noGrp="1"/>
          </p:cNvSpPr>
          <p:nvPr/>
        </p:nvSpPr>
        <p:spPr>
          <a:xfrm>
            <a:off x="934883" y="2624327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native-253">
            <a:extLst>
              <a:ext uri="{FF2B5EF4-FFF2-40B4-BE49-F238E27FC236}">
                <a16:creationId xmlns:a16="http://schemas.microsoft.com/office/drawing/2014/main" id="{56108C7A-2AE4-4104-A1BE-19E7A115081C}"/>
              </a:ext>
            </a:extLst>
          </p:cNvPr>
          <p:cNvSpPr>
            <a:spLocks noGrp="1"/>
          </p:cNvSpPr>
          <p:nvPr/>
        </p:nvSpPr>
        <p:spPr>
          <a:xfrm>
            <a:off x="1220633" y="2624327"/>
            <a:ext cx="1152525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No real-time transcription, live captions or in-meeting AI analysis (LI-02).</a:t>
            </a:r>
          </a:p>
        </p:txBody>
      </p:sp>
      <p:sp>
        <p:nvSpPr>
          <p:cNvPr id="15" name="native-254">
            <a:extLst>
              <a:ext uri="{FF2B5EF4-FFF2-40B4-BE49-F238E27FC236}">
                <a16:creationId xmlns:a16="http://schemas.microsoft.com/office/drawing/2014/main" id="{71014FF0-B0B5-4216-85D4-8C37D6D67A3B}"/>
              </a:ext>
            </a:extLst>
          </p:cNvPr>
          <p:cNvSpPr>
            <a:spLocks noGrp="1"/>
          </p:cNvSpPr>
          <p:nvPr/>
        </p:nvSpPr>
        <p:spPr>
          <a:xfrm>
            <a:off x="934883" y="3374135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native-255">
            <a:extLst>
              <a:ext uri="{FF2B5EF4-FFF2-40B4-BE49-F238E27FC236}">
                <a16:creationId xmlns:a16="http://schemas.microsoft.com/office/drawing/2014/main" id="{75805D38-9BB5-4235-8F9F-0AF2D6EE5B78}"/>
              </a:ext>
            </a:extLst>
          </p:cNvPr>
          <p:cNvSpPr>
            <a:spLocks noGrp="1"/>
          </p:cNvSpPr>
          <p:nvPr/>
        </p:nvSpPr>
        <p:spPr>
          <a:xfrm>
            <a:off x="1220633" y="3374135"/>
            <a:ext cx="1152525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Vietnamese only: no multi-language support, translation or subtitles (LI-04).</a:t>
            </a:r>
          </a:p>
        </p:txBody>
      </p:sp>
      <p:sp>
        <p:nvSpPr>
          <p:cNvPr id="17" name="native-256">
            <a:extLst>
              <a:ext uri="{FF2B5EF4-FFF2-40B4-BE49-F238E27FC236}">
                <a16:creationId xmlns:a16="http://schemas.microsoft.com/office/drawing/2014/main" id="{9B17C76D-3C1B-4053-97A9-ACAE4867A057}"/>
              </a:ext>
            </a:extLst>
          </p:cNvPr>
          <p:cNvSpPr>
            <a:spLocks noGrp="1"/>
          </p:cNvSpPr>
          <p:nvPr/>
        </p:nvSpPr>
        <p:spPr>
          <a:xfrm>
            <a:off x="934883" y="4123944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native-256">
            <a:extLst>
              <a:ext uri="{FF2B5EF4-FFF2-40B4-BE49-F238E27FC236}">
                <a16:creationId xmlns:a16="http://schemas.microsoft.com/office/drawing/2014/main" id="{9B17C76D-3C1B-4053-97A9-ACAE4867A057}"/>
              </a:ext>
            </a:extLst>
          </p:cNvPr>
          <p:cNvSpPr>
            <a:spLocks noGrp="1"/>
          </p:cNvSpPr>
          <p:nvPr/>
        </p:nvSpPr>
        <p:spPr>
          <a:xfrm>
            <a:off x="934883" y="4873752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native-256">
            <a:extLst>
              <a:ext uri="{FF2B5EF4-FFF2-40B4-BE49-F238E27FC236}">
                <a16:creationId xmlns:a16="http://schemas.microsoft.com/office/drawing/2014/main" id="{9B17C76D-3C1B-4053-97A9-ACAE4867A057}"/>
              </a:ext>
            </a:extLst>
          </p:cNvPr>
          <p:cNvSpPr>
            <a:spLocks noGrp="1"/>
          </p:cNvSpPr>
          <p:nvPr/>
        </p:nvSpPr>
        <p:spPr>
          <a:xfrm>
            <a:off x="934883" y="5623559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native-257">
            <a:extLst>
              <a:ext uri="{FF2B5EF4-FFF2-40B4-BE49-F238E27FC236}">
                <a16:creationId xmlns:a16="http://schemas.microsoft.com/office/drawing/2014/main" id="{A65F6CFE-F063-49B8-BC4F-C0C9229F6F58}"/>
              </a:ext>
            </a:extLst>
          </p:cNvPr>
          <p:cNvSpPr>
            <a:spLocks noGrp="1"/>
          </p:cNvSpPr>
          <p:nvPr/>
        </p:nvSpPr>
        <p:spPr>
          <a:xfrm>
            <a:off x="1220633" y="4123944"/>
            <a:ext cx="1152525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No large-scale conferencing such as webinars, live streaming or breakout rooms (LI-08).</a:t>
            </a:r>
          </a:p>
        </p:txBody>
      </p:sp>
      <p:sp>
        <p:nvSpPr>
          <p:cNvPr id="21" name="native-257">
            <a:extLst>
              <a:ext uri="{FF2B5EF4-FFF2-40B4-BE49-F238E27FC236}">
                <a16:creationId xmlns:a16="http://schemas.microsoft.com/office/drawing/2014/main" id="{A65F6CFE-F063-49B8-BC4F-C0C9229F6F58}"/>
              </a:ext>
            </a:extLst>
          </p:cNvPr>
          <p:cNvSpPr>
            <a:spLocks noGrp="1"/>
          </p:cNvSpPr>
          <p:nvPr/>
        </p:nvSpPr>
        <p:spPr>
          <a:xfrm>
            <a:off x="1220633" y="4873752"/>
            <a:ext cx="1152525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No task assignment, action-item tracking or deadline management (LI-12).</a:t>
            </a:r>
          </a:p>
        </p:txBody>
      </p:sp>
      <p:sp>
        <p:nvSpPr>
          <p:cNvPr id="22" name="native-257">
            <a:extLst>
              <a:ext uri="{FF2B5EF4-FFF2-40B4-BE49-F238E27FC236}">
                <a16:creationId xmlns:a16="http://schemas.microsoft.com/office/drawing/2014/main" id="{A65F6CFE-F063-49B8-BC4F-C0C9229F6F58}"/>
              </a:ext>
            </a:extLst>
          </p:cNvPr>
          <p:cNvSpPr>
            <a:spLocks noGrp="1"/>
          </p:cNvSpPr>
          <p:nvPr/>
        </p:nvSpPr>
        <p:spPr>
          <a:xfrm>
            <a:off x="1220633" y="5623559"/>
            <a:ext cx="1152525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No CA-issued signatures, native mobile app or multi-tenant deployment (LI-06, LI-10, LI-11).</a:t>
            </a:r>
          </a:p>
        </p:txBody>
      </p:sp>
    </p:spTree>
    <p:extLst>
      <p:ext uri="{BB962C8B-B14F-4D97-AF65-F5344CB8AC3E}">
        <p14:creationId xmlns:p14="http://schemas.microsoft.com/office/powerpoint/2010/main" val="53092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258">
            <a:extLst>
              <a:ext uri="{FF2B5EF4-FFF2-40B4-BE49-F238E27FC236}">
                <a16:creationId xmlns:a16="http://schemas.microsoft.com/office/drawing/2014/main" id="{1658D62D-E622-4BC3-B67C-A40300DE55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259">
            <a:extLst>
              <a:ext uri="{FF2B5EF4-FFF2-40B4-BE49-F238E27FC236}">
                <a16:creationId xmlns:a16="http://schemas.microsoft.com/office/drawing/2014/main" id="{52122696-4A86-49CE-AFDC-89C9122E6BC3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260">
            <a:extLst>
              <a:ext uri="{FF2B5EF4-FFF2-40B4-BE49-F238E27FC236}">
                <a16:creationId xmlns:a16="http://schemas.microsoft.com/office/drawing/2014/main" id="{3B632367-3D60-42D3-BEF5-D02E3C94392F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2333625" cy="2381250"/>
          </a:xfrm>
          <a:prstGeom prst="rtTriangle">
            <a:avLst/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261">
            <a:extLst>
              <a:ext uri="{FF2B5EF4-FFF2-40B4-BE49-F238E27FC236}">
                <a16:creationId xmlns:a16="http://schemas.microsoft.com/office/drawing/2014/main" id="{50776791-6B3D-4E6C-9DBD-2EF20B322C67}"/>
              </a:ext>
            </a:extLst>
          </p:cNvPr>
          <p:cNvSpPr>
            <a:spLocks noGrp="1"/>
          </p:cNvSpPr>
          <p:nvPr/>
        </p:nvSpPr>
        <p:spPr>
          <a:xfrm rot="16200000">
            <a:off x="11525250" y="5238750"/>
            <a:ext cx="2190750" cy="247650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tive-262">
            <a:extLst>
              <a:ext uri="{FF2B5EF4-FFF2-40B4-BE49-F238E27FC236}">
                <a16:creationId xmlns:a16="http://schemas.microsoft.com/office/drawing/2014/main" id="{2AC7734A-20DA-49F6-B899-C69B9B4D6AA9}"/>
              </a:ext>
            </a:extLst>
          </p:cNvPr>
          <p:cNvSpPr>
            <a:spLocks noGrp="1"/>
          </p:cNvSpPr>
          <p:nvPr/>
        </p:nvSpPr>
        <p:spPr>
          <a:xfrm>
            <a:off x="781050" y="7486650"/>
            <a:ext cx="11953875" cy="400050"/>
          </a:xfrm>
          <a:prstGeom prst="roundRect">
            <a:avLst>
              <a:gd name="adj" fmla="val 19048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-263">
            <a:extLst>
              <a:ext uri="{FF2B5EF4-FFF2-40B4-BE49-F238E27FC236}">
                <a16:creationId xmlns:a16="http://schemas.microsoft.com/office/drawing/2014/main" id="{1281CEA6-E4C4-4920-8301-6D239AC48842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15</a:t>
            </a:r>
          </a:p>
        </p:txBody>
      </p:sp>
      <p:sp>
        <p:nvSpPr>
          <p:cNvPr id="7" name="native-264">
            <a:extLst>
              <a:ext uri="{FF2B5EF4-FFF2-40B4-BE49-F238E27FC236}">
                <a16:creationId xmlns:a16="http://schemas.microsoft.com/office/drawing/2014/main" id="{94C93B71-72D2-4F59-B9DC-8DBF0328D705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II. PROJECT MANAGEMENT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5A22DA-E7FC-4D22-A52D-82B0127A0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86275" y="2228850"/>
            <a:ext cx="47434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89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native-393">
            <a:extLst>
              <a:ext uri="{FF2B5EF4-FFF2-40B4-BE49-F238E27FC236}">
                <a16:creationId xmlns:a16="http://schemas.microsoft.com/office/drawing/2014/main" id="{E11B8E3C-9E91-41FD-B565-1E093D40D6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native-394">
            <a:extLst>
              <a:ext uri="{FF2B5EF4-FFF2-40B4-BE49-F238E27FC236}">
                <a16:creationId xmlns:a16="http://schemas.microsoft.com/office/drawing/2014/main" id="{4DF0F6F0-E403-412A-B8EB-E97E42C07B65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native-395">
            <a:extLst>
              <a:ext uri="{FF2B5EF4-FFF2-40B4-BE49-F238E27FC236}">
                <a16:creationId xmlns:a16="http://schemas.microsoft.com/office/drawing/2014/main" id="{AABF8B8A-6691-482B-9166-D17EBD1AC0C6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native-396">
            <a:extLst>
              <a:ext uri="{FF2B5EF4-FFF2-40B4-BE49-F238E27FC236}">
                <a16:creationId xmlns:a16="http://schemas.microsoft.com/office/drawing/2014/main" id="{48FA65EA-6A9F-42D0-9867-1E5583366070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16</a:t>
            </a:r>
          </a:p>
        </p:txBody>
      </p:sp>
      <p:sp>
        <p:nvSpPr>
          <p:cNvPr id="107" name="native-397">
            <a:extLst>
              <a:ext uri="{FF2B5EF4-FFF2-40B4-BE49-F238E27FC236}">
                <a16:creationId xmlns:a16="http://schemas.microsoft.com/office/drawing/2014/main" id="{144AE591-34C6-4066-8427-1D8428E318CF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ITERATIVE INCREMENTAL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08" name="native-398">
            <a:extLst>
              <a:ext uri="{FF2B5EF4-FFF2-40B4-BE49-F238E27FC236}">
                <a16:creationId xmlns:a16="http://schemas.microsoft.com/office/drawing/2014/main" id="{4AED2140-2E3B-4C25-8A55-4528AC1E49F1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native-399">
            <a:extLst>
              <a:ext uri="{FF2B5EF4-FFF2-40B4-BE49-F238E27FC236}">
                <a16:creationId xmlns:a16="http://schemas.microsoft.com/office/drawing/2014/main" id="{301782D0-8CE1-48E1-A805-832B1B98EA07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7E54BEAA-203B-47BF-94F9-1F9A8C0D7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21688" y="1444752"/>
            <a:ext cx="9634524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92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-265">
            <a:extLst>
              <a:ext uri="{FF2B5EF4-FFF2-40B4-BE49-F238E27FC236}">
                <a16:creationId xmlns:a16="http://schemas.microsoft.com/office/drawing/2014/main" id="{C84B775D-F378-49CB-942C-D1483F01BD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266">
            <a:extLst>
              <a:ext uri="{FF2B5EF4-FFF2-40B4-BE49-F238E27FC236}">
                <a16:creationId xmlns:a16="http://schemas.microsoft.com/office/drawing/2014/main" id="{FFFBB313-E190-443E-8D43-5192E206BBD1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267">
            <a:extLst>
              <a:ext uri="{FF2B5EF4-FFF2-40B4-BE49-F238E27FC236}">
                <a16:creationId xmlns:a16="http://schemas.microsoft.com/office/drawing/2014/main" id="{46587502-FCA7-4D95-A107-CDBFA45800DF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2333625" cy="2381250"/>
          </a:xfrm>
          <a:prstGeom prst="rtTriangle">
            <a:avLst/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268">
            <a:extLst>
              <a:ext uri="{FF2B5EF4-FFF2-40B4-BE49-F238E27FC236}">
                <a16:creationId xmlns:a16="http://schemas.microsoft.com/office/drawing/2014/main" id="{7DE548B2-7FCA-4490-9864-9438F6DCBE48}"/>
              </a:ext>
            </a:extLst>
          </p:cNvPr>
          <p:cNvSpPr>
            <a:spLocks noGrp="1"/>
          </p:cNvSpPr>
          <p:nvPr/>
        </p:nvSpPr>
        <p:spPr>
          <a:xfrm rot="16200000">
            <a:off x="11525250" y="5238750"/>
            <a:ext cx="2190750" cy="247650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tive-269">
            <a:extLst>
              <a:ext uri="{FF2B5EF4-FFF2-40B4-BE49-F238E27FC236}">
                <a16:creationId xmlns:a16="http://schemas.microsoft.com/office/drawing/2014/main" id="{71B33D5C-291B-471E-9D14-826078B73BD2}"/>
              </a:ext>
            </a:extLst>
          </p:cNvPr>
          <p:cNvSpPr>
            <a:spLocks noGrp="1"/>
          </p:cNvSpPr>
          <p:nvPr/>
        </p:nvSpPr>
        <p:spPr>
          <a:xfrm>
            <a:off x="781050" y="7486650"/>
            <a:ext cx="11953875" cy="400050"/>
          </a:xfrm>
          <a:prstGeom prst="roundRect">
            <a:avLst>
              <a:gd name="adj" fmla="val 19048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-270">
            <a:extLst>
              <a:ext uri="{FF2B5EF4-FFF2-40B4-BE49-F238E27FC236}">
                <a16:creationId xmlns:a16="http://schemas.microsoft.com/office/drawing/2014/main" id="{F89443CE-4C2C-48FF-B965-0951CC76FE6A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17</a:t>
            </a:r>
          </a:p>
        </p:txBody>
      </p:sp>
      <p:sp>
        <p:nvSpPr>
          <p:cNvPr id="7" name="native-271">
            <a:extLst>
              <a:ext uri="{FF2B5EF4-FFF2-40B4-BE49-F238E27FC236}">
                <a16:creationId xmlns:a16="http://schemas.microsoft.com/office/drawing/2014/main" id="{918BFB05-00F7-4B59-A524-A404A6540EDB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PROJECT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8" name="native-272">
            <a:extLst>
              <a:ext uri="{FF2B5EF4-FFF2-40B4-BE49-F238E27FC236}">
                <a16:creationId xmlns:a16="http://schemas.microsoft.com/office/drawing/2014/main" id="{3643C213-7BEF-4BC0-B04D-8E69A7429DA8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714625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INITIAL PLANNING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14–20 Sep 2026</a:t>
            </a:r>
          </a:p>
        </p:txBody>
      </p:sp>
      <p:sp>
        <p:nvSpPr>
          <p:cNvPr id="9" name="native-273">
            <a:extLst>
              <a:ext uri="{FF2B5EF4-FFF2-40B4-BE49-F238E27FC236}">
                <a16:creationId xmlns:a16="http://schemas.microsoft.com/office/drawing/2014/main" id="{5AA5858A-A886-464C-B7BA-47526B30064D}"/>
              </a:ext>
            </a:extLst>
          </p:cNvPr>
          <p:cNvSpPr>
            <a:spLocks noGrp="1"/>
          </p:cNvSpPr>
          <p:nvPr/>
        </p:nvSpPr>
        <p:spPr>
          <a:xfrm>
            <a:off x="819150" y="3114675"/>
            <a:ext cx="26003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Environment &amp; feasibility</a:t>
            </a:r>
          </a:p>
        </p:txBody>
      </p:sp>
      <p:sp>
        <p:nvSpPr>
          <p:cNvPr id="10" name="native-274">
            <a:extLst>
              <a:ext uri="{FF2B5EF4-FFF2-40B4-BE49-F238E27FC236}">
                <a16:creationId xmlns:a16="http://schemas.microsoft.com/office/drawing/2014/main" id="{ACB3EEC5-8348-44E2-AA65-E6CA6E14A862}"/>
              </a:ext>
            </a:extLst>
          </p:cNvPr>
          <p:cNvSpPr>
            <a:spLocks noGrp="1"/>
          </p:cNvSpPr>
          <p:nvPr/>
        </p:nvSpPr>
        <p:spPr>
          <a:xfrm>
            <a:off x="3981450" y="2000250"/>
            <a:ext cx="2714625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ITERATION 1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21 Sep–4 Oct 2026</a:t>
            </a:r>
          </a:p>
        </p:txBody>
      </p:sp>
      <p:sp>
        <p:nvSpPr>
          <p:cNvPr id="11" name="native-275">
            <a:extLst>
              <a:ext uri="{FF2B5EF4-FFF2-40B4-BE49-F238E27FC236}">
                <a16:creationId xmlns:a16="http://schemas.microsoft.com/office/drawing/2014/main" id="{C5AA90F4-2170-4D06-A80D-D55331C77EB5}"/>
              </a:ext>
            </a:extLst>
          </p:cNvPr>
          <p:cNvSpPr>
            <a:spLocks noGrp="1"/>
          </p:cNvSpPr>
          <p:nvPr/>
        </p:nvSpPr>
        <p:spPr>
          <a:xfrm>
            <a:off x="4038600" y="3114675"/>
            <a:ext cx="26003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Identity &amp; Access</a:t>
            </a:r>
          </a:p>
        </p:txBody>
      </p:sp>
      <p:sp>
        <p:nvSpPr>
          <p:cNvPr id="12" name="native-276">
            <a:extLst>
              <a:ext uri="{FF2B5EF4-FFF2-40B4-BE49-F238E27FC236}">
                <a16:creationId xmlns:a16="http://schemas.microsoft.com/office/drawing/2014/main" id="{E726E2BC-CFD9-44AF-A3BC-BA56E02B191F}"/>
              </a:ext>
            </a:extLst>
          </p:cNvPr>
          <p:cNvSpPr>
            <a:spLocks noGrp="1"/>
          </p:cNvSpPr>
          <p:nvPr/>
        </p:nvSpPr>
        <p:spPr>
          <a:xfrm>
            <a:off x="7200900" y="2000250"/>
            <a:ext cx="2714625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ITERATION 2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5–18 Oct 2026</a:t>
            </a:r>
          </a:p>
        </p:txBody>
      </p:sp>
      <p:sp>
        <p:nvSpPr>
          <p:cNvPr id="13" name="native-277">
            <a:extLst>
              <a:ext uri="{FF2B5EF4-FFF2-40B4-BE49-F238E27FC236}">
                <a16:creationId xmlns:a16="http://schemas.microsoft.com/office/drawing/2014/main" id="{808562DC-78F7-4DB2-A409-7E712D934556}"/>
              </a:ext>
            </a:extLst>
          </p:cNvPr>
          <p:cNvSpPr>
            <a:spLocks noGrp="1"/>
          </p:cNvSpPr>
          <p:nvPr/>
        </p:nvSpPr>
        <p:spPr>
          <a:xfrm>
            <a:off x="7258050" y="3114675"/>
            <a:ext cx="26003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Meetings, Documents &amp; Notifications</a:t>
            </a:r>
          </a:p>
        </p:txBody>
      </p:sp>
      <p:sp>
        <p:nvSpPr>
          <p:cNvPr id="14" name="native-278">
            <a:extLst>
              <a:ext uri="{FF2B5EF4-FFF2-40B4-BE49-F238E27FC236}">
                <a16:creationId xmlns:a16="http://schemas.microsoft.com/office/drawing/2014/main" id="{0980E6BE-1995-404B-9F7C-178A50451C4E}"/>
              </a:ext>
            </a:extLst>
          </p:cNvPr>
          <p:cNvSpPr>
            <a:spLocks noGrp="1"/>
          </p:cNvSpPr>
          <p:nvPr/>
        </p:nvSpPr>
        <p:spPr>
          <a:xfrm>
            <a:off x="10420350" y="2000250"/>
            <a:ext cx="2714625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ITERATION 3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19 Oct–1 Nov 2026</a:t>
            </a:r>
          </a:p>
        </p:txBody>
      </p:sp>
      <p:sp>
        <p:nvSpPr>
          <p:cNvPr id="15" name="native-279">
            <a:extLst>
              <a:ext uri="{FF2B5EF4-FFF2-40B4-BE49-F238E27FC236}">
                <a16:creationId xmlns:a16="http://schemas.microsoft.com/office/drawing/2014/main" id="{2BDB10F5-F1DE-481D-93AA-E278D53FBBB9}"/>
              </a:ext>
            </a:extLst>
          </p:cNvPr>
          <p:cNvSpPr>
            <a:spLocks noGrp="1"/>
          </p:cNvSpPr>
          <p:nvPr/>
        </p:nvSpPr>
        <p:spPr>
          <a:xfrm>
            <a:off x="10477500" y="3114675"/>
            <a:ext cx="26003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Audio &amp; AI</a:t>
            </a:r>
          </a:p>
        </p:txBody>
      </p:sp>
      <p:sp>
        <p:nvSpPr>
          <p:cNvPr id="16" name="native-280">
            <a:extLst>
              <a:ext uri="{FF2B5EF4-FFF2-40B4-BE49-F238E27FC236}">
                <a16:creationId xmlns:a16="http://schemas.microsoft.com/office/drawing/2014/main" id="{FBC81EDE-BA48-4AE8-901A-C04683CD969B}"/>
              </a:ext>
            </a:extLst>
          </p:cNvPr>
          <p:cNvSpPr>
            <a:spLocks noGrp="1"/>
          </p:cNvSpPr>
          <p:nvPr/>
        </p:nvSpPr>
        <p:spPr>
          <a:xfrm>
            <a:off x="10420350" y="4533900"/>
            <a:ext cx="2714625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ITERATION 4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2–15 Nov 2026</a:t>
            </a:r>
          </a:p>
        </p:txBody>
      </p:sp>
      <p:sp>
        <p:nvSpPr>
          <p:cNvPr id="17" name="native-281">
            <a:extLst>
              <a:ext uri="{FF2B5EF4-FFF2-40B4-BE49-F238E27FC236}">
                <a16:creationId xmlns:a16="http://schemas.microsoft.com/office/drawing/2014/main" id="{8DB3C71B-1EC5-4F17-A821-9672256D2907}"/>
              </a:ext>
            </a:extLst>
          </p:cNvPr>
          <p:cNvSpPr>
            <a:spLocks noGrp="1"/>
          </p:cNvSpPr>
          <p:nvPr/>
        </p:nvSpPr>
        <p:spPr>
          <a:xfrm>
            <a:off x="10477500" y="5648325"/>
            <a:ext cx="26003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Online Meeting Room</a:t>
            </a:r>
          </a:p>
        </p:txBody>
      </p:sp>
      <p:sp>
        <p:nvSpPr>
          <p:cNvPr id="18" name="native-282">
            <a:extLst>
              <a:ext uri="{FF2B5EF4-FFF2-40B4-BE49-F238E27FC236}">
                <a16:creationId xmlns:a16="http://schemas.microsoft.com/office/drawing/2014/main" id="{BEBF713D-7E09-42BD-9F14-E73FBB457E47}"/>
              </a:ext>
            </a:extLst>
          </p:cNvPr>
          <p:cNvSpPr>
            <a:spLocks noGrp="1"/>
          </p:cNvSpPr>
          <p:nvPr/>
        </p:nvSpPr>
        <p:spPr>
          <a:xfrm>
            <a:off x="7200900" y="4533900"/>
            <a:ext cx="2714625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ITERATION 5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16–29 Nov 2026</a:t>
            </a:r>
          </a:p>
        </p:txBody>
      </p:sp>
      <p:sp>
        <p:nvSpPr>
          <p:cNvPr id="19" name="native-283">
            <a:extLst>
              <a:ext uri="{FF2B5EF4-FFF2-40B4-BE49-F238E27FC236}">
                <a16:creationId xmlns:a16="http://schemas.microsoft.com/office/drawing/2014/main" id="{F283D0AF-7DEE-4081-880B-79CE60DE208B}"/>
              </a:ext>
            </a:extLst>
          </p:cNvPr>
          <p:cNvSpPr>
            <a:spLocks noGrp="1"/>
          </p:cNvSpPr>
          <p:nvPr/>
        </p:nvSpPr>
        <p:spPr>
          <a:xfrm>
            <a:off x="7258050" y="5648325"/>
            <a:ext cx="26003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Voting &amp; Minutes</a:t>
            </a:r>
          </a:p>
        </p:txBody>
      </p:sp>
      <p:sp>
        <p:nvSpPr>
          <p:cNvPr id="20" name="native-284">
            <a:extLst>
              <a:ext uri="{FF2B5EF4-FFF2-40B4-BE49-F238E27FC236}">
                <a16:creationId xmlns:a16="http://schemas.microsoft.com/office/drawing/2014/main" id="{98B00D64-84F7-4BA7-A311-B49E2AE433A3}"/>
              </a:ext>
            </a:extLst>
          </p:cNvPr>
          <p:cNvSpPr>
            <a:spLocks noGrp="1"/>
          </p:cNvSpPr>
          <p:nvPr/>
        </p:nvSpPr>
        <p:spPr>
          <a:xfrm>
            <a:off x="3981450" y="4533900"/>
            <a:ext cx="2714625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ITERATION 6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30 Nov–13 Dec 2026</a:t>
            </a:r>
          </a:p>
        </p:txBody>
      </p:sp>
      <p:sp>
        <p:nvSpPr>
          <p:cNvPr id="21" name="native-285">
            <a:extLst>
              <a:ext uri="{FF2B5EF4-FFF2-40B4-BE49-F238E27FC236}">
                <a16:creationId xmlns:a16="http://schemas.microsoft.com/office/drawing/2014/main" id="{692F56E8-2163-4B45-A31B-234AFA8E7942}"/>
              </a:ext>
            </a:extLst>
          </p:cNvPr>
          <p:cNvSpPr>
            <a:spLocks noGrp="1"/>
          </p:cNvSpPr>
          <p:nvPr/>
        </p:nvSpPr>
        <p:spPr>
          <a:xfrm>
            <a:off x="4038600" y="5648325"/>
            <a:ext cx="26003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Dashboard &amp; Reports</a:t>
            </a:r>
          </a:p>
        </p:txBody>
      </p:sp>
      <p:sp>
        <p:nvSpPr>
          <p:cNvPr id="22" name="native-286">
            <a:extLst>
              <a:ext uri="{FF2B5EF4-FFF2-40B4-BE49-F238E27FC236}">
                <a16:creationId xmlns:a16="http://schemas.microsoft.com/office/drawing/2014/main" id="{5005946D-618A-4C67-9034-E256D35A3B5F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2714625" cy="885825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DEPLOYMENT</a:t>
            </a:r>
          </a:p>
          <a:p>
            <a:pPr algn="ctr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14–27 Dec 2026</a:t>
            </a:r>
          </a:p>
        </p:txBody>
      </p:sp>
      <p:sp>
        <p:nvSpPr>
          <p:cNvPr id="23" name="native-287">
            <a:extLst>
              <a:ext uri="{FF2B5EF4-FFF2-40B4-BE49-F238E27FC236}">
                <a16:creationId xmlns:a16="http://schemas.microsoft.com/office/drawing/2014/main" id="{4677A96D-D30F-423B-919E-7FE5937373FA}"/>
              </a:ext>
            </a:extLst>
          </p:cNvPr>
          <p:cNvSpPr>
            <a:spLocks noGrp="1"/>
          </p:cNvSpPr>
          <p:nvPr/>
        </p:nvSpPr>
        <p:spPr>
          <a:xfrm>
            <a:off x="819150" y="5648325"/>
            <a:ext cx="260032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Acceptance &amp; Handover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C2CDA4-D19D-4081-A227-AE520E29753D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3476625" y="2443163"/>
            <a:ext cx="50482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DA7C8D-1043-469F-8DBB-BAE68DBB476D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6696075" y="2443163"/>
            <a:ext cx="50482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D305174-3ECB-485A-855E-F4A74ABE6E99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9915525" y="2443163"/>
            <a:ext cx="50482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9E319F8-F486-489A-ACFB-28FA4D616E48}"/>
              </a:ext>
            </a:extLst>
          </p:cNvPr>
          <p:cNvCxnSpPr>
            <a:cxnSpLocks/>
            <a:stCxn id="14" idx="3"/>
            <a:endCxn id="16" idx="3"/>
          </p:cNvCxnSpPr>
          <p:nvPr/>
        </p:nvCxnSpPr>
        <p:spPr>
          <a:xfrm>
            <a:off x="13134975" y="2443163"/>
            <a:ext cx="1" cy="2533650"/>
          </a:xfrm>
          <a:prstGeom prst="bentConnector3">
            <a:avLst>
              <a:gd name="adj1" fmla="val 1800000"/>
            </a:avLst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758E23-6766-4CF3-B3FD-69BFD0114F21}"/>
              </a:ext>
            </a:extLst>
          </p:cNvPr>
          <p:cNvCxnSpPr>
            <a:stCxn id="16" idx="1"/>
            <a:endCxn id="18" idx="3"/>
          </p:cNvCxnSpPr>
          <p:nvPr/>
        </p:nvCxnSpPr>
        <p:spPr>
          <a:xfrm flipH="1">
            <a:off x="9915525" y="4976813"/>
            <a:ext cx="50482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77CEC2-0B8B-4B8C-B36B-747C9D042CF0}"/>
              </a:ext>
            </a:extLst>
          </p:cNvPr>
          <p:cNvCxnSpPr>
            <a:stCxn id="18" idx="1"/>
            <a:endCxn id="20" idx="3"/>
          </p:cNvCxnSpPr>
          <p:nvPr/>
        </p:nvCxnSpPr>
        <p:spPr>
          <a:xfrm flipH="1">
            <a:off x="6696075" y="4976813"/>
            <a:ext cx="50482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9E12544-F6AA-45DD-966A-A4DE5D464189}"/>
              </a:ext>
            </a:extLst>
          </p:cNvPr>
          <p:cNvCxnSpPr>
            <a:stCxn id="20" idx="1"/>
            <a:endCxn id="22" idx="3"/>
          </p:cNvCxnSpPr>
          <p:nvPr/>
        </p:nvCxnSpPr>
        <p:spPr>
          <a:xfrm flipH="1">
            <a:off x="3476625" y="4976813"/>
            <a:ext cx="50482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sp>
        <p:nvSpPr>
          <p:cNvPr id="31" name="native-288">
            <a:extLst>
              <a:ext uri="{FF2B5EF4-FFF2-40B4-BE49-F238E27FC236}">
                <a16:creationId xmlns:a16="http://schemas.microsoft.com/office/drawing/2014/main" id="{E5EC1DC3-99DB-415B-B000-E326D2D83212}"/>
              </a:ext>
            </a:extLst>
          </p:cNvPr>
          <p:cNvSpPr>
            <a:spLocks noGrp="1"/>
          </p:cNvSpPr>
          <p:nvPr/>
        </p:nvSpPr>
        <p:spPr>
          <a:xfrm>
            <a:off x="1095375" y="7029450"/>
            <a:ext cx="11620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Planned delivery baseline · 14 September–27 December 2026</a:t>
            </a:r>
          </a:p>
        </p:txBody>
      </p:sp>
      <p:sp>
        <p:nvSpPr>
          <p:cNvPr id="33" name="native-58">
            <a:extLst>
              <a:ext uri="{FF2B5EF4-FFF2-40B4-BE49-F238E27FC236}">
                <a16:creationId xmlns:a16="http://schemas.microsoft.com/office/drawing/2014/main" id="{1C841A9B-FA8C-4C8B-84A7-A7F806FC1A85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5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native-289">
            <a:extLst>
              <a:ext uri="{FF2B5EF4-FFF2-40B4-BE49-F238E27FC236}">
                <a16:creationId xmlns:a16="http://schemas.microsoft.com/office/drawing/2014/main" id="{DFDFD0DC-6F94-45AF-8A54-C50EEDE093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290">
            <a:extLst>
              <a:ext uri="{FF2B5EF4-FFF2-40B4-BE49-F238E27FC236}">
                <a16:creationId xmlns:a16="http://schemas.microsoft.com/office/drawing/2014/main" id="{64E2BCBF-5594-459C-9B34-B62ACAE31FA7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291">
            <a:extLst>
              <a:ext uri="{FF2B5EF4-FFF2-40B4-BE49-F238E27FC236}">
                <a16:creationId xmlns:a16="http://schemas.microsoft.com/office/drawing/2014/main" id="{E66BF699-EB8B-476B-BCC4-AA19A9C200B4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2333625" cy="2381250"/>
          </a:xfrm>
          <a:prstGeom prst="rtTriangle">
            <a:avLst/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292">
            <a:extLst>
              <a:ext uri="{FF2B5EF4-FFF2-40B4-BE49-F238E27FC236}">
                <a16:creationId xmlns:a16="http://schemas.microsoft.com/office/drawing/2014/main" id="{55118AF3-490A-4B17-AEDC-1D2D830345FE}"/>
              </a:ext>
            </a:extLst>
          </p:cNvPr>
          <p:cNvSpPr>
            <a:spLocks noGrp="1"/>
          </p:cNvSpPr>
          <p:nvPr/>
        </p:nvSpPr>
        <p:spPr>
          <a:xfrm rot="16200000">
            <a:off x="11525250" y="5238750"/>
            <a:ext cx="2190750" cy="247650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tive-293">
            <a:extLst>
              <a:ext uri="{FF2B5EF4-FFF2-40B4-BE49-F238E27FC236}">
                <a16:creationId xmlns:a16="http://schemas.microsoft.com/office/drawing/2014/main" id="{A4934B2B-8790-4120-A8CF-8A12B6CBA857}"/>
              </a:ext>
            </a:extLst>
          </p:cNvPr>
          <p:cNvSpPr>
            <a:spLocks noGrp="1"/>
          </p:cNvSpPr>
          <p:nvPr/>
        </p:nvSpPr>
        <p:spPr>
          <a:xfrm>
            <a:off x="781050" y="7486650"/>
            <a:ext cx="11953875" cy="400050"/>
          </a:xfrm>
          <a:prstGeom prst="roundRect">
            <a:avLst>
              <a:gd name="adj" fmla="val 19048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-294">
            <a:extLst>
              <a:ext uri="{FF2B5EF4-FFF2-40B4-BE49-F238E27FC236}">
                <a16:creationId xmlns:a16="http://schemas.microsoft.com/office/drawing/2014/main" id="{CAF1A91C-0FCA-4BFF-AEFA-327E55E2A027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18</a:t>
            </a:r>
          </a:p>
        </p:txBody>
      </p:sp>
      <p:sp>
        <p:nvSpPr>
          <p:cNvPr id="7" name="native-295">
            <a:extLst>
              <a:ext uri="{FF2B5EF4-FFF2-40B4-BE49-F238E27FC236}">
                <a16:creationId xmlns:a16="http://schemas.microsoft.com/office/drawing/2014/main" id="{717E9A73-48E9-4C47-8B69-3A2C2BD52D5B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INITIAL PLANNING &amp;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CAPACITY</a:t>
            </a:r>
          </a:p>
        </p:txBody>
      </p:sp>
      <p:sp>
        <p:nvSpPr>
          <p:cNvPr id="8" name="native-296">
            <a:extLst>
              <a:ext uri="{FF2B5EF4-FFF2-40B4-BE49-F238E27FC236}">
                <a16:creationId xmlns:a16="http://schemas.microsoft.com/office/drawing/2014/main" id="{63301E76-36C8-47B1-82E8-5EAFE9B7D264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6C7709-474A-4E30-BC00-6FBACFB09C58}"/>
              </a:ext>
            </a:extLst>
          </p:cNvPr>
          <p:cNvGraphicFramePr/>
          <p:nvPr/>
        </p:nvGraphicFramePr>
        <p:xfrm>
          <a:off x="685800" y="1847850"/>
          <a:ext cx="5810250" cy="4476750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Capacity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5 part-time members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15 weeks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Gross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262.5 person-days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Effective capacity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210 person-days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52.5 person-days (20%)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native-297">
            <a:extLst>
              <a:ext uri="{FF2B5EF4-FFF2-40B4-BE49-F238E27FC236}">
                <a16:creationId xmlns:a16="http://schemas.microsoft.com/office/drawing/2014/main" id="{5A531A14-997B-42AC-92FC-8379FC98F42B}"/>
              </a:ext>
            </a:extLst>
          </p:cNvPr>
          <p:cNvSpPr>
            <a:spLocks noGrp="1"/>
          </p:cNvSpPr>
          <p:nvPr/>
        </p:nvSpPr>
        <p:spPr>
          <a:xfrm>
            <a:off x="7267575" y="1981200"/>
            <a:ext cx="5400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INITIAL PLANNING</a:t>
            </a:r>
          </a:p>
        </p:txBody>
      </p:sp>
      <p:sp>
        <p:nvSpPr>
          <p:cNvPr id="11" name="native-298">
            <a:extLst>
              <a:ext uri="{FF2B5EF4-FFF2-40B4-BE49-F238E27FC236}">
                <a16:creationId xmlns:a16="http://schemas.microsoft.com/office/drawing/2014/main" id="{27FB8E0C-1E6F-4720-A884-7CCD413D46B2}"/>
              </a:ext>
            </a:extLst>
          </p:cNvPr>
          <p:cNvSpPr>
            <a:spLocks noGrp="1"/>
          </p:cNvSpPr>
          <p:nvPr/>
        </p:nvSpPr>
        <p:spPr>
          <a:xfrm>
            <a:off x="7239000" y="268605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native-299">
            <a:extLst>
              <a:ext uri="{FF2B5EF4-FFF2-40B4-BE49-F238E27FC236}">
                <a16:creationId xmlns:a16="http://schemas.microsoft.com/office/drawing/2014/main" id="{7943DD6F-85F5-46DE-A952-D6EAFE470F4B}"/>
              </a:ext>
            </a:extLst>
          </p:cNvPr>
          <p:cNvSpPr>
            <a:spLocks noGrp="1"/>
          </p:cNvSpPr>
          <p:nvPr/>
        </p:nvSpPr>
        <p:spPr>
          <a:xfrm>
            <a:off x="7524750" y="2686050"/>
            <a:ext cx="5334000" cy="595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Development environment and repository conventions</a:t>
            </a:r>
          </a:p>
        </p:txBody>
      </p:sp>
      <p:sp>
        <p:nvSpPr>
          <p:cNvPr id="13" name="native-300">
            <a:extLst>
              <a:ext uri="{FF2B5EF4-FFF2-40B4-BE49-F238E27FC236}">
                <a16:creationId xmlns:a16="http://schemas.microsoft.com/office/drawing/2014/main" id="{4F63C5DC-EFE7-457B-9656-74D6BBD5093A}"/>
              </a:ext>
            </a:extLst>
          </p:cNvPr>
          <p:cNvSpPr>
            <a:spLocks noGrp="1"/>
          </p:cNvSpPr>
          <p:nvPr/>
        </p:nvSpPr>
        <p:spPr>
          <a:xfrm>
            <a:off x="7239000" y="3481388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native-301">
            <a:extLst>
              <a:ext uri="{FF2B5EF4-FFF2-40B4-BE49-F238E27FC236}">
                <a16:creationId xmlns:a16="http://schemas.microsoft.com/office/drawing/2014/main" id="{1F7827E8-F91E-4363-89FB-CCC2C466B997}"/>
              </a:ext>
            </a:extLst>
          </p:cNvPr>
          <p:cNvSpPr>
            <a:spLocks noGrp="1"/>
          </p:cNvSpPr>
          <p:nvPr/>
        </p:nvSpPr>
        <p:spPr>
          <a:xfrm>
            <a:off x="7524750" y="3481388"/>
            <a:ext cx="5334000" cy="3452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Architecture and processing boundaries</a:t>
            </a:r>
          </a:p>
        </p:txBody>
      </p:sp>
      <p:sp>
        <p:nvSpPr>
          <p:cNvPr id="15" name="native-302">
            <a:extLst>
              <a:ext uri="{FF2B5EF4-FFF2-40B4-BE49-F238E27FC236}">
                <a16:creationId xmlns:a16="http://schemas.microsoft.com/office/drawing/2014/main" id="{43DAE228-1900-48B6-90F1-545B91C4E331}"/>
              </a:ext>
            </a:extLst>
          </p:cNvPr>
          <p:cNvSpPr>
            <a:spLocks noGrp="1"/>
          </p:cNvSpPr>
          <p:nvPr/>
        </p:nvSpPr>
        <p:spPr>
          <a:xfrm>
            <a:off x="7239000" y="4026694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native-303">
            <a:extLst>
              <a:ext uri="{FF2B5EF4-FFF2-40B4-BE49-F238E27FC236}">
                <a16:creationId xmlns:a16="http://schemas.microsoft.com/office/drawing/2014/main" id="{956C0DC7-18A5-4255-B582-6031444CC9FB}"/>
              </a:ext>
            </a:extLst>
          </p:cNvPr>
          <p:cNvSpPr>
            <a:spLocks noGrp="1"/>
          </p:cNvSpPr>
          <p:nvPr/>
        </p:nvSpPr>
        <p:spPr>
          <a:xfrm>
            <a:off x="7524750" y="4026694"/>
            <a:ext cx="5334000" cy="3452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Media and Vietnamese transcription feasibility</a:t>
            </a:r>
          </a:p>
        </p:txBody>
      </p:sp>
      <p:sp>
        <p:nvSpPr>
          <p:cNvPr id="17" name="native-304">
            <a:extLst>
              <a:ext uri="{FF2B5EF4-FFF2-40B4-BE49-F238E27FC236}">
                <a16:creationId xmlns:a16="http://schemas.microsoft.com/office/drawing/2014/main" id="{248402E2-FEAC-4A83-9A9F-2005183CF91F}"/>
              </a:ext>
            </a:extLst>
          </p:cNvPr>
          <p:cNvSpPr>
            <a:spLocks noGrp="1"/>
          </p:cNvSpPr>
          <p:nvPr/>
        </p:nvSpPr>
        <p:spPr>
          <a:xfrm>
            <a:off x="7239000" y="457200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native-305">
            <a:extLst>
              <a:ext uri="{FF2B5EF4-FFF2-40B4-BE49-F238E27FC236}">
                <a16:creationId xmlns:a16="http://schemas.microsoft.com/office/drawing/2014/main" id="{16648D60-2911-4A64-852E-F12F51C12DD3}"/>
              </a:ext>
            </a:extLst>
          </p:cNvPr>
          <p:cNvSpPr>
            <a:spLocks noGrp="1"/>
          </p:cNvSpPr>
          <p:nvPr/>
        </p:nvSpPr>
        <p:spPr>
          <a:xfrm>
            <a:off x="7524750" y="4572000"/>
            <a:ext cx="5334000" cy="3452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Acceptance thresholds and first UI mock-ups</a:t>
            </a:r>
          </a:p>
        </p:txBody>
      </p:sp>
    </p:spTree>
    <p:extLst>
      <p:ext uri="{BB962C8B-B14F-4D97-AF65-F5344CB8AC3E}">
        <p14:creationId xmlns:p14="http://schemas.microsoft.com/office/powerpoint/2010/main" val="1243225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tive-306">
            <a:extLst>
              <a:ext uri="{FF2B5EF4-FFF2-40B4-BE49-F238E27FC236}">
                <a16:creationId xmlns:a16="http://schemas.microsoft.com/office/drawing/2014/main" id="{309033D3-7206-4C68-9C91-FA5AA59EB6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307">
            <a:extLst>
              <a:ext uri="{FF2B5EF4-FFF2-40B4-BE49-F238E27FC236}">
                <a16:creationId xmlns:a16="http://schemas.microsoft.com/office/drawing/2014/main" id="{632CD2E6-05B9-4520-B80F-4184A56C7403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308">
            <a:extLst>
              <a:ext uri="{FF2B5EF4-FFF2-40B4-BE49-F238E27FC236}">
                <a16:creationId xmlns:a16="http://schemas.microsoft.com/office/drawing/2014/main" id="{19F9D951-E672-481E-AD18-D592BD2CEDA1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309">
            <a:extLst>
              <a:ext uri="{FF2B5EF4-FFF2-40B4-BE49-F238E27FC236}">
                <a16:creationId xmlns:a16="http://schemas.microsoft.com/office/drawing/2014/main" id="{A508F077-59A1-471A-83B2-DDFA48987193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19</a:t>
            </a:r>
          </a:p>
        </p:txBody>
      </p:sp>
      <p:sp>
        <p:nvSpPr>
          <p:cNvPr id="5" name="native-310">
            <a:extLst>
              <a:ext uri="{FF2B5EF4-FFF2-40B4-BE49-F238E27FC236}">
                <a16:creationId xmlns:a16="http://schemas.microsoft.com/office/drawing/2014/main" id="{F9CE509C-142F-4849-9475-15FF6DBDCB63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PROGRESS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6" name="native-311">
            <a:extLst>
              <a:ext uri="{FF2B5EF4-FFF2-40B4-BE49-F238E27FC236}">
                <a16:creationId xmlns:a16="http://schemas.microsoft.com/office/drawing/2014/main" id="{0B69413F-E14A-4F73-B81C-DE468C89673B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846FF4-7E19-4C96-B5F0-EF2FCAFD512D}"/>
              </a:ext>
            </a:extLst>
          </p:cNvPr>
          <p:cNvGraphicFramePr/>
          <p:nvPr/>
        </p:nvGraphicFramePr>
        <p:xfrm>
          <a:off x="731520" y="1828800"/>
          <a:ext cx="12243816" cy="373075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7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Jira record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team records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Use Case task, owner, estimate and acceptance criteria from Report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Progress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Completed work, current stage and remaining work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Defect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Description, reproduction steps, evidence, severity and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Blocker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Problem, impact, owner and next action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Change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Requirement change, impact, approval and affected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native-312">
            <a:extLst>
              <a:ext uri="{FF2B5EF4-FFF2-40B4-BE49-F238E27FC236}">
                <a16:creationId xmlns:a16="http://schemas.microsoft.com/office/drawing/2014/main" id="{769B3BA1-83AD-4932-9161-3276B5D1E3D9}"/>
              </a:ext>
            </a:extLst>
          </p:cNvPr>
          <p:cNvSpPr>
            <a:spLocks noGrp="1"/>
          </p:cNvSpPr>
          <p:nvPr/>
        </p:nvSpPr>
        <p:spPr>
          <a:xfrm>
            <a:off x="1295400" y="5806440"/>
            <a:ext cx="11106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Report 3 (SRS) is the requirement baseline · Jira tracks tasks, progress and defects</a:t>
            </a:r>
          </a:p>
        </p:txBody>
      </p:sp>
    </p:spTree>
    <p:extLst>
      <p:ext uri="{BB962C8B-B14F-4D97-AF65-F5344CB8AC3E}">
        <p14:creationId xmlns:p14="http://schemas.microsoft.com/office/powerpoint/2010/main" val="494273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tive-314">
            <a:extLst>
              <a:ext uri="{FF2B5EF4-FFF2-40B4-BE49-F238E27FC236}">
                <a16:creationId xmlns:a16="http://schemas.microsoft.com/office/drawing/2014/main" id="{A54B47F1-7469-4C39-A48F-A61BCD957C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315">
            <a:extLst>
              <a:ext uri="{FF2B5EF4-FFF2-40B4-BE49-F238E27FC236}">
                <a16:creationId xmlns:a16="http://schemas.microsoft.com/office/drawing/2014/main" id="{CCFD8F4E-E9BF-4035-9719-A5097AA4C205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316">
            <a:extLst>
              <a:ext uri="{FF2B5EF4-FFF2-40B4-BE49-F238E27FC236}">
                <a16:creationId xmlns:a16="http://schemas.microsoft.com/office/drawing/2014/main" id="{714E2E30-8BBF-4D19-928D-5C605EEFB77E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2333625" cy="2381250"/>
          </a:xfrm>
          <a:prstGeom prst="rtTriangle">
            <a:avLst/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317">
            <a:extLst>
              <a:ext uri="{FF2B5EF4-FFF2-40B4-BE49-F238E27FC236}">
                <a16:creationId xmlns:a16="http://schemas.microsoft.com/office/drawing/2014/main" id="{CAD67886-0F70-46F6-8A27-DB3CF030D172}"/>
              </a:ext>
            </a:extLst>
          </p:cNvPr>
          <p:cNvSpPr>
            <a:spLocks noGrp="1"/>
          </p:cNvSpPr>
          <p:nvPr/>
        </p:nvSpPr>
        <p:spPr>
          <a:xfrm rot="16200000">
            <a:off x="11525250" y="5238750"/>
            <a:ext cx="2190750" cy="247650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tive-318">
            <a:extLst>
              <a:ext uri="{FF2B5EF4-FFF2-40B4-BE49-F238E27FC236}">
                <a16:creationId xmlns:a16="http://schemas.microsoft.com/office/drawing/2014/main" id="{4D4B2977-1BCD-46A4-80CE-01E6A02F8662}"/>
              </a:ext>
            </a:extLst>
          </p:cNvPr>
          <p:cNvSpPr>
            <a:spLocks noGrp="1"/>
          </p:cNvSpPr>
          <p:nvPr/>
        </p:nvSpPr>
        <p:spPr>
          <a:xfrm>
            <a:off x="781050" y="7486650"/>
            <a:ext cx="11953875" cy="400050"/>
          </a:xfrm>
          <a:prstGeom prst="roundRect">
            <a:avLst>
              <a:gd name="adj" fmla="val 19048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-319">
            <a:extLst>
              <a:ext uri="{FF2B5EF4-FFF2-40B4-BE49-F238E27FC236}">
                <a16:creationId xmlns:a16="http://schemas.microsoft.com/office/drawing/2014/main" id="{8FA881EA-EB69-4F0E-8358-3F7226BD31BF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20</a:t>
            </a:r>
          </a:p>
        </p:txBody>
      </p:sp>
      <p:sp>
        <p:nvSpPr>
          <p:cNvPr id="7" name="native-320">
            <a:extLst>
              <a:ext uri="{FF2B5EF4-FFF2-40B4-BE49-F238E27FC236}">
                <a16:creationId xmlns:a16="http://schemas.microsoft.com/office/drawing/2014/main" id="{4568A194-F026-43B3-BE8A-E724E22383A1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PROJECT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8" name="native-321">
            <a:extLst>
              <a:ext uri="{FF2B5EF4-FFF2-40B4-BE49-F238E27FC236}">
                <a16:creationId xmlns:a16="http://schemas.microsoft.com/office/drawing/2014/main" id="{720D04E5-7667-4D56-8BA1-5506D3EE0ACF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0B4C4F-06DD-4FEA-89C3-5810F7A0F2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392517"/>
              </p:ext>
            </p:extLst>
          </p:nvPr>
        </p:nvGraphicFramePr>
        <p:xfrm>
          <a:off x="762000" y="1819275"/>
          <a:ext cx="12172950" cy="5048250"/>
        </p:xfrm>
        <a:graphic>
          <a:graphicData uri="http://schemas.openxmlformats.org/drawingml/2006/table">
            <a:tbl>
              <a:tblPr/>
              <a:tblGrid>
                <a:gridCol w="32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1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TrustCabinet baseline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Technologies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ASP.NET Core 10 · C# · EF Core 10</a:t>
                      </a:r>
                    </a:p>
                    <a:p>
                      <a:r>
                        <a:rPr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React 19 · TypeScript · 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Data &amp; Security Sessions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PostgreSQL 17 · Redis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375"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Source &amp;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GitHub · GitHub Actions</a:t>
                      </a:r>
                    </a:p>
                    <a:p>
                      <a:r>
                        <a:rPr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Backend tests · frontend build and lint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375"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Project &amp; Documentation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Jira · Google Drive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Supporting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SMTP configurable · Google sign-in</a:t>
                      </a:r>
                    </a:p>
                    <a:p>
                      <a:r>
                        <a:rPr sz="1875" b="0" dirty="0" err="1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LiveKit</a:t>
                      </a:r>
                      <a:r>
                        <a:rPr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 · speech/AI provide</a:t>
                      </a:r>
                      <a:r>
                        <a:rPr lang="en-US" sz="1875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endParaRPr sz="1875" b="0" dirty="0">
                        <a:solidFill>
                          <a:srgbClr val="1A24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35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tive-322">
            <a:extLst>
              <a:ext uri="{FF2B5EF4-FFF2-40B4-BE49-F238E27FC236}">
                <a16:creationId xmlns:a16="http://schemas.microsoft.com/office/drawing/2014/main" id="{A245C6F5-4328-4CF2-91AF-F91C60D1AF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323">
            <a:extLst>
              <a:ext uri="{FF2B5EF4-FFF2-40B4-BE49-F238E27FC236}">
                <a16:creationId xmlns:a16="http://schemas.microsoft.com/office/drawing/2014/main" id="{E11947F1-1AB5-448C-B238-A13A8B61031E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324">
            <a:extLst>
              <a:ext uri="{FF2B5EF4-FFF2-40B4-BE49-F238E27FC236}">
                <a16:creationId xmlns:a16="http://schemas.microsoft.com/office/drawing/2014/main" id="{BF1D243E-B127-4608-B213-EEB16F9B6934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325">
            <a:extLst>
              <a:ext uri="{FF2B5EF4-FFF2-40B4-BE49-F238E27FC236}">
                <a16:creationId xmlns:a16="http://schemas.microsoft.com/office/drawing/2014/main" id="{FAE49121-B19C-4E6D-8E51-1465166AADC1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21</a:t>
            </a:r>
          </a:p>
        </p:txBody>
      </p:sp>
      <p:sp>
        <p:nvSpPr>
          <p:cNvPr id="5" name="native-326">
            <a:extLst>
              <a:ext uri="{FF2B5EF4-FFF2-40B4-BE49-F238E27FC236}">
                <a16:creationId xmlns:a16="http://schemas.microsoft.com/office/drawing/2014/main" id="{8801D3FD-52D0-4410-B6A1-38A38A7ACC95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COMMUNICATION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6" name="native-327">
            <a:extLst>
              <a:ext uri="{FF2B5EF4-FFF2-40B4-BE49-F238E27FC236}">
                <a16:creationId xmlns:a16="http://schemas.microsoft.com/office/drawing/2014/main" id="{72FEF4F0-9B09-43A0-B2C9-CC8BF1EE9BCD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08E442-C293-4CF0-94E9-644F6FD3F76A}"/>
              </a:ext>
            </a:extLst>
          </p:cNvPr>
          <p:cNvGraphicFramePr/>
          <p:nvPr/>
        </p:nvGraphicFramePr>
        <p:xfrm>
          <a:off x="649224" y="1691640"/>
          <a:ext cx="12417552" cy="4828032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Meeting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Participants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When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Team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All team members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Report progress, raise blockers, keep Jira current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Mon, Wed, Fri · 21:00–21:30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Iteration Planning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All team members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Set the goal, select features, estimate and allocate tasks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First day of each iteration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Requirement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PO, BA, Test Lead, feature builders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Confirm detailed requirements and acceptance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First 3 days of each iteration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Design Review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BE Lead, FE Lead, BA, Test Lead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Review data model, API contract and screens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After the requirements phase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Iteration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Team + Product 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Demo the increment, review effort, defects and open 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Last day of each iteration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Supervisor Meeting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Supervisor + team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Report progress, demo, raise risks, get report feedback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Weekly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Document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BA + section authors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Check content, consistency and template before submission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Before each report submission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1291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tive-328">
            <a:extLst>
              <a:ext uri="{FF2B5EF4-FFF2-40B4-BE49-F238E27FC236}">
                <a16:creationId xmlns:a16="http://schemas.microsoft.com/office/drawing/2014/main" id="{3308528D-B644-4669-9418-20458334D0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329">
            <a:extLst>
              <a:ext uri="{FF2B5EF4-FFF2-40B4-BE49-F238E27FC236}">
                <a16:creationId xmlns:a16="http://schemas.microsoft.com/office/drawing/2014/main" id="{030C57D0-8CB3-4348-B261-C2061C87BEE3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330">
            <a:extLst>
              <a:ext uri="{FF2B5EF4-FFF2-40B4-BE49-F238E27FC236}">
                <a16:creationId xmlns:a16="http://schemas.microsoft.com/office/drawing/2014/main" id="{72EC6CEA-9B4D-4C5C-BCCC-A48DA5E92944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2333625" cy="2381250"/>
          </a:xfrm>
          <a:prstGeom prst="rtTriangle">
            <a:avLst/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331">
            <a:extLst>
              <a:ext uri="{FF2B5EF4-FFF2-40B4-BE49-F238E27FC236}">
                <a16:creationId xmlns:a16="http://schemas.microsoft.com/office/drawing/2014/main" id="{1D142F24-4546-4DD4-BCD8-9D9D06087C86}"/>
              </a:ext>
            </a:extLst>
          </p:cNvPr>
          <p:cNvSpPr>
            <a:spLocks noGrp="1"/>
          </p:cNvSpPr>
          <p:nvPr/>
        </p:nvSpPr>
        <p:spPr>
          <a:xfrm rot="16200000">
            <a:off x="11525250" y="5238750"/>
            <a:ext cx="2190750" cy="247650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tive-332">
            <a:extLst>
              <a:ext uri="{FF2B5EF4-FFF2-40B4-BE49-F238E27FC236}">
                <a16:creationId xmlns:a16="http://schemas.microsoft.com/office/drawing/2014/main" id="{D8B3C8BB-5F6A-4695-A1D7-683549FECEB8}"/>
              </a:ext>
            </a:extLst>
          </p:cNvPr>
          <p:cNvSpPr>
            <a:spLocks noGrp="1"/>
          </p:cNvSpPr>
          <p:nvPr/>
        </p:nvSpPr>
        <p:spPr>
          <a:xfrm>
            <a:off x="781050" y="7486650"/>
            <a:ext cx="11953875" cy="400050"/>
          </a:xfrm>
          <a:prstGeom prst="roundRect">
            <a:avLst>
              <a:gd name="adj" fmla="val 19048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-333">
            <a:extLst>
              <a:ext uri="{FF2B5EF4-FFF2-40B4-BE49-F238E27FC236}">
                <a16:creationId xmlns:a16="http://schemas.microsoft.com/office/drawing/2014/main" id="{5250FB42-B46A-4622-8E75-00E6E4910F02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22</a:t>
            </a:r>
          </a:p>
        </p:txBody>
      </p:sp>
      <p:sp>
        <p:nvSpPr>
          <p:cNvPr id="7" name="native-334">
            <a:extLst>
              <a:ext uri="{FF2B5EF4-FFF2-40B4-BE49-F238E27FC236}">
                <a16:creationId xmlns:a16="http://schemas.microsoft.com/office/drawing/2014/main" id="{009560DC-531B-49F0-8512-7B634180CFA9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RISK MANAGEMENT </a:t>
            </a:r>
            <a:r>
              <a:rPr sz="3450" b="1" dirty="0">
                <a:solidFill>
                  <a:srgbClr val="2A4D94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8" name="native-335">
            <a:extLst>
              <a:ext uri="{FF2B5EF4-FFF2-40B4-BE49-F238E27FC236}">
                <a16:creationId xmlns:a16="http://schemas.microsoft.com/office/drawing/2014/main" id="{44E78F05-266C-4483-A71B-06C01ACD7EDF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98A99B-BD34-4EA0-8741-FC8E25BF6E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6422776"/>
              </p:ext>
            </p:extLst>
          </p:nvPr>
        </p:nvGraphicFramePr>
        <p:xfrm>
          <a:off x="619125" y="1971675"/>
          <a:ext cx="12477750" cy="4543425"/>
        </p:xfrm>
        <a:graphic>
          <a:graphicData uri="http://schemas.openxmlformats.org/drawingml/2006/table">
            <a:tbl>
              <a:tblPr/>
              <a:tblGrid>
                <a:gridCol w="334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868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Impact / Likelihood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 plan</a:t>
                      </a:r>
                    </a:p>
                  </a:txBody>
                  <a:tcPr>
                    <a:solidFill>
                      <a:srgbClr val="2A4D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6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Online meeting room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High /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Prototype a proven media server. Agree reduced-room fallback.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685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Vietnamese speaker attribution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High / Medium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Evaluate early using real audio. Allow transcript and speaker edits.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6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AI provider not 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High /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Decide before Iteration 3. Keep a replaceable internal interface.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68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Broad feature scope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High / High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A2433"/>
                          </a:solidFill>
                          <a:latin typeface="Arial"/>
                          <a:ea typeface="Arial"/>
                          <a:cs typeface="Arial"/>
                        </a:rPr>
                        <a:t>Must-have FE-01–13. Should-have FE-14–15. Preserve 20% buffer.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033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tive-336">
            <a:extLst>
              <a:ext uri="{FF2B5EF4-FFF2-40B4-BE49-F238E27FC236}">
                <a16:creationId xmlns:a16="http://schemas.microsoft.com/office/drawing/2014/main" id="{2895B6BA-C6C1-4A46-9885-E66602772D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337">
            <a:extLst>
              <a:ext uri="{FF2B5EF4-FFF2-40B4-BE49-F238E27FC236}">
                <a16:creationId xmlns:a16="http://schemas.microsoft.com/office/drawing/2014/main" id="{6D347F5B-943F-433A-AE3B-9636C6AABB18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tive-338">
            <a:extLst>
              <a:ext uri="{FF2B5EF4-FFF2-40B4-BE49-F238E27FC236}">
                <a16:creationId xmlns:a16="http://schemas.microsoft.com/office/drawing/2014/main" id="{48D17F34-7255-47BA-8BCC-C8BC596594BE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-339">
            <a:extLst>
              <a:ext uri="{FF2B5EF4-FFF2-40B4-BE49-F238E27FC236}">
                <a16:creationId xmlns:a16="http://schemas.microsoft.com/office/drawing/2014/main" id="{218E14C8-A155-441A-86AD-8393AAB9DC92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23</a:t>
            </a:r>
          </a:p>
        </p:txBody>
      </p:sp>
      <p:sp>
        <p:nvSpPr>
          <p:cNvPr id="7" name="native-340">
            <a:extLst>
              <a:ext uri="{FF2B5EF4-FFF2-40B4-BE49-F238E27FC236}">
                <a16:creationId xmlns:a16="http://schemas.microsoft.com/office/drawing/2014/main" id="{7F3DC5A2-94B9-400D-8549-060DB0D7D529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QUALITY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8" name="native-341">
            <a:extLst>
              <a:ext uri="{FF2B5EF4-FFF2-40B4-BE49-F238E27FC236}">
                <a16:creationId xmlns:a16="http://schemas.microsoft.com/office/drawing/2014/main" id="{F0647F79-8F10-44F0-8B65-D831F3D241A8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ative-342">
            <a:extLst>
              <a:ext uri="{FF2B5EF4-FFF2-40B4-BE49-F238E27FC236}">
                <a16:creationId xmlns:a16="http://schemas.microsoft.com/office/drawing/2014/main" id="{DFED9136-7CBF-47EE-BCA5-6CD69BE9E959}"/>
              </a:ext>
            </a:extLst>
          </p:cNvPr>
          <p:cNvSpPr>
            <a:spLocks noGrp="1"/>
          </p:cNvSpPr>
          <p:nvPr/>
        </p:nvSpPr>
        <p:spPr>
          <a:xfrm>
            <a:off x="832104" y="3291840"/>
            <a:ext cx="2103120" cy="1600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Requirement clarity</a:t>
            </a:r>
          </a:p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Acceptance criteria in Jira</a:t>
            </a:r>
          </a:p>
        </p:txBody>
      </p:sp>
      <p:sp>
        <p:nvSpPr>
          <p:cNvPr id="10" name="native-343">
            <a:extLst>
              <a:ext uri="{FF2B5EF4-FFF2-40B4-BE49-F238E27FC236}">
                <a16:creationId xmlns:a16="http://schemas.microsoft.com/office/drawing/2014/main" id="{B1008AD1-85D5-4E9A-9B3E-FC83BC6F9D39}"/>
              </a:ext>
            </a:extLst>
          </p:cNvPr>
          <p:cNvSpPr>
            <a:spLocks noGrp="1"/>
          </p:cNvSpPr>
          <p:nvPr/>
        </p:nvSpPr>
        <p:spPr>
          <a:xfrm>
            <a:off x="3319272" y="3291840"/>
            <a:ext cx="2103120" cy="1600200"/>
          </a:xfrm>
          <a:prstGeom prst="roundRect">
            <a:avLst>
              <a:gd name="adj" fmla="val 7273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Implementation</a:t>
            </a:r>
          </a:p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BE and FE integrate the Use Case</a:t>
            </a:r>
          </a:p>
        </p:txBody>
      </p:sp>
      <p:sp>
        <p:nvSpPr>
          <p:cNvPr id="11" name="native-345">
            <a:extLst>
              <a:ext uri="{FF2B5EF4-FFF2-40B4-BE49-F238E27FC236}">
                <a16:creationId xmlns:a16="http://schemas.microsoft.com/office/drawing/2014/main" id="{BB15C363-71A4-4CB0-997E-EE545611B882}"/>
              </a:ext>
            </a:extLst>
          </p:cNvPr>
          <p:cNvSpPr>
            <a:spLocks noGrp="1"/>
          </p:cNvSpPr>
          <p:nvPr/>
        </p:nvSpPr>
        <p:spPr>
          <a:xfrm>
            <a:off x="8293608" y="3291840"/>
            <a:ext cx="2103120" cy="1600200"/>
          </a:xfrm>
          <a:prstGeom prst="roundRect">
            <a:avLst>
              <a:gd name="adj" fmla="val 7273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Testing &amp; Retest</a:t>
            </a:r>
          </a:p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Happy path, edges and important bugs</a:t>
            </a:r>
          </a:p>
        </p:txBody>
      </p:sp>
      <p:sp>
        <p:nvSpPr>
          <p:cNvPr id="12" name="native-346">
            <a:extLst>
              <a:ext uri="{FF2B5EF4-FFF2-40B4-BE49-F238E27FC236}">
                <a16:creationId xmlns:a16="http://schemas.microsoft.com/office/drawing/2014/main" id="{F7C88F09-7960-45D9-A2DE-4763F17A8CAD}"/>
              </a:ext>
            </a:extLst>
          </p:cNvPr>
          <p:cNvSpPr>
            <a:spLocks noGrp="1"/>
          </p:cNvSpPr>
          <p:nvPr/>
        </p:nvSpPr>
        <p:spPr>
          <a:xfrm>
            <a:off x="5806440" y="3291840"/>
            <a:ext cx="2103120" cy="1600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Peer Review</a:t>
            </a:r>
          </a:p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Review the change before merge</a:t>
            </a:r>
          </a:p>
        </p:txBody>
      </p:sp>
      <p:sp>
        <p:nvSpPr>
          <p:cNvPr id="13" name="native-347">
            <a:extLst>
              <a:ext uri="{FF2B5EF4-FFF2-40B4-BE49-F238E27FC236}">
                <a16:creationId xmlns:a16="http://schemas.microsoft.com/office/drawing/2014/main" id="{3B6A0E15-BED2-4CD4-BC74-BF763F460170}"/>
              </a:ext>
            </a:extLst>
          </p:cNvPr>
          <p:cNvSpPr>
            <a:spLocks noGrp="1"/>
          </p:cNvSpPr>
          <p:nvPr/>
        </p:nvSpPr>
        <p:spPr>
          <a:xfrm>
            <a:off x="10780776" y="3291840"/>
            <a:ext cx="2103120" cy="1600200"/>
          </a:xfrm>
          <a:prstGeom prst="roundRect">
            <a:avLst>
              <a:gd name="adj" fmla="val 7273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Done</a:t>
            </a:r>
          </a:p>
          <a:p>
            <a:pPr algn="ctr">
              <a:defRPr sz="1875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Docs, tests and Jira are complete</a:t>
            </a:r>
          </a:p>
        </p:txBody>
      </p:sp>
      <p:sp>
        <p:nvSpPr>
          <p:cNvPr id="14" name="native-348">
            <a:extLst>
              <a:ext uri="{FF2B5EF4-FFF2-40B4-BE49-F238E27FC236}">
                <a16:creationId xmlns:a16="http://schemas.microsoft.com/office/drawing/2014/main" id="{214EC730-F139-4301-AD32-F3B6AA5F72F2}"/>
              </a:ext>
            </a:extLst>
          </p:cNvPr>
          <p:cNvSpPr>
            <a:spLocks noGrp="1"/>
          </p:cNvSpPr>
          <p:nvPr/>
        </p:nvSpPr>
        <p:spPr>
          <a:xfrm>
            <a:off x="1000125" y="7019925"/>
            <a:ext cx="116681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endParaRPr sz="1575" b="1" dirty="0">
              <a:solidFill>
                <a:srgbClr val="2A4D94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EDEFCB-A328-4F22-95AC-997582CF4606}"/>
              </a:ext>
            </a:extLst>
          </p:cNvPr>
          <p:cNvCxnSpPr/>
          <p:nvPr/>
        </p:nvCxnSpPr>
        <p:spPr>
          <a:xfrm>
            <a:off x="2971800" y="4091939"/>
            <a:ext cx="31089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EDEFCB-A328-4F22-95AC-997582CF4606}"/>
              </a:ext>
            </a:extLst>
          </p:cNvPr>
          <p:cNvCxnSpPr/>
          <p:nvPr/>
        </p:nvCxnSpPr>
        <p:spPr>
          <a:xfrm>
            <a:off x="5458968" y="4091939"/>
            <a:ext cx="31089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EDEFCB-A328-4F22-95AC-997582CF4606}"/>
              </a:ext>
            </a:extLst>
          </p:cNvPr>
          <p:cNvCxnSpPr/>
          <p:nvPr/>
        </p:nvCxnSpPr>
        <p:spPr>
          <a:xfrm>
            <a:off x="7946135" y="4091939"/>
            <a:ext cx="310896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EDEFCB-A328-4F22-95AC-997582CF4606}"/>
              </a:ext>
            </a:extLst>
          </p:cNvPr>
          <p:cNvCxnSpPr/>
          <p:nvPr/>
        </p:nvCxnSpPr>
        <p:spPr>
          <a:xfrm>
            <a:off x="10433304" y="4091939"/>
            <a:ext cx="310896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08973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native-349">
            <a:extLst>
              <a:ext uri="{FF2B5EF4-FFF2-40B4-BE49-F238E27FC236}">
                <a16:creationId xmlns:a16="http://schemas.microsoft.com/office/drawing/2014/main" id="{3C69904F-2D8D-49A5-9A4C-93319A4B24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350">
            <a:extLst>
              <a:ext uri="{FF2B5EF4-FFF2-40B4-BE49-F238E27FC236}">
                <a16:creationId xmlns:a16="http://schemas.microsoft.com/office/drawing/2014/main" id="{3F22FB1E-713B-470B-93C1-F091CC4AF741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351">
            <a:extLst>
              <a:ext uri="{FF2B5EF4-FFF2-40B4-BE49-F238E27FC236}">
                <a16:creationId xmlns:a16="http://schemas.microsoft.com/office/drawing/2014/main" id="{9B36C2DC-5BDD-4114-8C23-72FD473AD0B7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352">
            <a:extLst>
              <a:ext uri="{FF2B5EF4-FFF2-40B4-BE49-F238E27FC236}">
                <a16:creationId xmlns:a16="http://schemas.microsoft.com/office/drawing/2014/main" id="{C058069F-50EF-4A21-A6A1-5C04612D2269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24</a:t>
            </a:r>
          </a:p>
        </p:txBody>
      </p:sp>
      <p:sp>
        <p:nvSpPr>
          <p:cNvPr id="5" name="native-353">
            <a:extLst>
              <a:ext uri="{FF2B5EF4-FFF2-40B4-BE49-F238E27FC236}">
                <a16:creationId xmlns:a16="http://schemas.microsoft.com/office/drawing/2014/main" id="{4FD5F137-F962-4784-86AE-8EE0ABA8E24E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TASK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6" name="native-354">
            <a:extLst>
              <a:ext uri="{FF2B5EF4-FFF2-40B4-BE49-F238E27FC236}">
                <a16:creationId xmlns:a16="http://schemas.microsoft.com/office/drawing/2014/main" id="{F1697D08-6D9B-4F4D-8D8A-194D49CE365C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355">
            <a:extLst>
              <a:ext uri="{FF2B5EF4-FFF2-40B4-BE49-F238E27FC236}">
                <a16:creationId xmlns:a16="http://schemas.microsoft.com/office/drawing/2014/main" id="{37C0AF1C-8AF8-49BA-8275-569D2BB3BEEB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771650" cy="971550"/>
          </a:xfrm>
          <a:prstGeom prst="roundRect">
            <a:avLst>
              <a:gd name="adj" fmla="val 7843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To Do</a:t>
            </a:r>
          </a:p>
        </p:txBody>
      </p:sp>
      <p:sp>
        <p:nvSpPr>
          <p:cNvPr id="8" name="native-356">
            <a:extLst>
              <a:ext uri="{FF2B5EF4-FFF2-40B4-BE49-F238E27FC236}">
                <a16:creationId xmlns:a16="http://schemas.microsoft.com/office/drawing/2014/main" id="{1C292E6F-3D25-4270-BB89-538B9C65B637}"/>
              </a:ext>
            </a:extLst>
          </p:cNvPr>
          <p:cNvSpPr>
            <a:spLocks noGrp="1"/>
          </p:cNvSpPr>
          <p:nvPr/>
        </p:nvSpPr>
        <p:spPr>
          <a:xfrm>
            <a:off x="2752725" y="2800350"/>
            <a:ext cx="1771650" cy="971550"/>
          </a:xfrm>
          <a:prstGeom prst="roundRect">
            <a:avLst>
              <a:gd name="adj" fmla="val 7843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Business Analyst</a:t>
            </a:r>
          </a:p>
        </p:txBody>
      </p:sp>
      <p:sp>
        <p:nvSpPr>
          <p:cNvPr id="9" name="native-357">
            <a:extLst>
              <a:ext uri="{FF2B5EF4-FFF2-40B4-BE49-F238E27FC236}">
                <a16:creationId xmlns:a16="http://schemas.microsoft.com/office/drawing/2014/main" id="{E4EE4B24-4F48-401E-9E48-6A19940E11C9}"/>
              </a:ext>
            </a:extLst>
          </p:cNvPr>
          <p:cNvSpPr>
            <a:spLocks noGrp="1"/>
          </p:cNvSpPr>
          <p:nvPr/>
        </p:nvSpPr>
        <p:spPr>
          <a:xfrm>
            <a:off x="4895850" y="2800350"/>
            <a:ext cx="1771650" cy="971550"/>
          </a:xfrm>
          <a:prstGeom prst="roundRect">
            <a:avLst>
              <a:gd name="adj" fmla="val 7843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0" name="native-358">
            <a:extLst>
              <a:ext uri="{FF2B5EF4-FFF2-40B4-BE49-F238E27FC236}">
                <a16:creationId xmlns:a16="http://schemas.microsoft.com/office/drawing/2014/main" id="{E367238C-10B6-4798-8104-ABC26B974364}"/>
              </a:ext>
            </a:extLst>
          </p:cNvPr>
          <p:cNvSpPr>
            <a:spLocks noGrp="1"/>
          </p:cNvSpPr>
          <p:nvPr/>
        </p:nvSpPr>
        <p:spPr>
          <a:xfrm>
            <a:off x="7038975" y="2800350"/>
            <a:ext cx="1771650" cy="971550"/>
          </a:xfrm>
          <a:prstGeom prst="roundRect">
            <a:avLst>
              <a:gd name="adj" fmla="val 7843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1" name="native-359">
            <a:extLst>
              <a:ext uri="{FF2B5EF4-FFF2-40B4-BE49-F238E27FC236}">
                <a16:creationId xmlns:a16="http://schemas.microsoft.com/office/drawing/2014/main" id="{7107069A-8CE7-40CF-8034-3A8BE3B8C61B}"/>
              </a:ext>
            </a:extLst>
          </p:cNvPr>
          <p:cNvSpPr>
            <a:spLocks noGrp="1"/>
          </p:cNvSpPr>
          <p:nvPr/>
        </p:nvSpPr>
        <p:spPr>
          <a:xfrm>
            <a:off x="9182100" y="2800350"/>
            <a:ext cx="1771650" cy="971550"/>
          </a:xfrm>
          <a:prstGeom prst="roundRect">
            <a:avLst>
              <a:gd name="adj" fmla="val 7843"/>
            </a:avLst>
          </a:prstGeom>
          <a:solidFill>
            <a:srgbClr val="E8F0FA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12" name="native-360">
            <a:extLst>
              <a:ext uri="{FF2B5EF4-FFF2-40B4-BE49-F238E27FC236}">
                <a16:creationId xmlns:a16="http://schemas.microsoft.com/office/drawing/2014/main" id="{EB729021-9E19-4881-834F-E8A2A2269600}"/>
              </a:ext>
            </a:extLst>
          </p:cNvPr>
          <p:cNvSpPr>
            <a:spLocks noGrp="1"/>
          </p:cNvSpPr>
          <p:nvPr/>
        </p:nvSpPr>
        <p:spPr>
          <a:xfrm>
            <a:off x="11325225" y="2800350"/>
            <a:ext cx="1771650" cy="971550"/>
          </a:xfrm>
          <a:prstGeom prst="roundRect">
            <a:avLst>
              <a:gd name="adj" fmla="val 7843"/>
            </a:avLst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49D3F3-69D0-4F89-A8E1-C9C147DB5BA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381250" y="3286125"/>
            <a:ext cx="37147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B741C0-F736-4803-A5E0-6567FDBE5B0A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524375" y="3286125"/>
            <a:ext cx="37147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0272C9-8044-4317-B163-84B6A5B12B4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667500" y="3286125"/>
            <a:ext cx="37147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1A5215-97F5-4BE9-BF39-3D5D09F83D4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810625" y="3286125"/>
            <a:ext cx="37147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23AE61-A5D0-4FE2-8D27-EE4A05F4D2DE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10953750" y="3286125"/>
            <a:ext cx="371475" cy="0"/>
          </a:xfrm>
          <a:prstGeom prst="straightConnector1">
            <a:avLst/>
          </a:prstGeom>
          <a:ln w="19050">
            <a:solidFill>
              <a:srgbClr val="2A4D94"/>
            </a:solidFill>
            <a:prstDash val="solid"/>
            <a:tailEnd type="triangle" w="sm" len="sm"/>
          </a:ln>
        </p:spPr>
      </p:cxnSp>
      <p:sp>
        <p:nvSpPr>
          <p:cNvPr id="18" name="native-361">
            <a:extLst>
              <a:ext uri="{FF2B5EF4-FFF2-40B4-BE49-F238E27FC236}">
                <a16:creationId xmlns:a16="http://schemas.microsoft.com/office/drawing/2014/main" id="{5CDB52C2-809B-4CF1-974F-AE109307AAA9}"/>
              </a:ext>
            </a:extLst>
          </p:cNvPr>
          <p:cNvSpPr>
            <a:spLocks noGrp="1"/>
          </p:cNvSpPr>
          <p:nvPr/>
        </p:nvSpPr>
        <p:spPr>
          <a:xfrm>
            <a:off x="4333875" y="1924050"/>
            <a:ext cx="504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3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JIRA WORKFLOW</a:t>
            </a:r>
          </a:p>
        </p:txBody>
      </p:sp>
      <p:sp>
        <p:nvSpPr>
          <p:cNvPr id="19" name="native-362">
            <a:extLst>
              <a:ext uri="{FF2B5EF4-FFF2-40B4-BE49-F238E27FC236}">
                <a16:creationId xmlns:a16="http://schemas.microsoft.com/office/drawing/2014/main" id="{C25A86B4-4197-4853-8E97-DA669D137F07}"/>
              </a:ext>
            </a:extLst>
          </p:cNvPr>
          <p:cNvSpPr>
            <a:spLocks noGrp="1"/>
          </p:cNvSpPr>
          <p:nvPr/>
        </p:nvSpPr>
        <p:spPr>
          <a:xfrm>
            <a:off x="1657350" y="462915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native-363">
            <a:extLst>
              <a:ext uri="{FF2B5EF4-FFF2-40B4-BE49-F238E27FC236}">
                <a16:creationId xmlns:a16="http://schemas.microsoft.com/office/drawing/2014/main" id="{0DA8BF6D-8249-4A0C-9E3A-110942CE950E}"/>
              </a:ext>
            </a:extLst>
          </p:cNvPr>
          <p:cNvSpPr>
            <a:spLocks noGrp="1"/>
          </p:cNvSpPr>
          <p:nvPr/>
        </p:nvSpPr>
        <p:spPr>
          <a:xfrm>
            <a:off x="1943100" y="4629150"/>
            <a:ext cx="10477500" cy="3590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Tester verifies functionality and important bug fixes before Done.</a:t>
            </a:r>
          </a:p>
        </p:txBody>
      </p:sp>
      <p:sp>
        <p:nvSpPr>
          <p:cNvPr id="21" name="native-364">
            <a:extLst>
              <a:ext uri="{FF2B5EF4-FFF2-40B4-BE49-F238E27FC236}">
                <a16:creationId xmlns:a16="http://schemas.microsoft.com/office/drawing/2014/main" id="{76512529-CA93-490D-8184-DFB13EA0D852}"/>
              </a:ext>
            </a:extLst>
          </p:cNvPr>
          <p:cNvSpPr>
            <a:spLocks noGrp="1"/>
          </p:cNvSpPr>
          <p:nvPr/>
        </p:nvSpPr>
        <p:spPr>
          <a:xfrm>
            <a:off x="1657350" y="5197793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native-365">
            <a:extLst>
              <a:ext uri="{FF2B5EF4-FFF2-40B4-BE49-F238E27FC236}">
                <a16:creationId xmlns:a16="http://schemas.microsoft.com/office/drawing/2014/main" id="{B925BECE-F18C-48C0-855A-065B0D4859EB}"/>
              </a:ext>
            </a:extLst>
          </p:cNvPr>
          <p:cNvSpPr>
            <a:spLocks noGrp="1"/>
          </p:cNvSpPr>
          <p:nvPr/>
        </p:nvSpPr>
        <p:spPr>
          <a:xfrm>
            <a:off x="1943100" y="5197793"/>
            <a:ext cx="10477500" cy="3590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BE / FE requirement changes are recorded as ticket comments.</a:t>
            </a:r>
          </a:p>
        </p:txBody>
      </p:sp>
      <p:sp>
        <p:nvSpPr>
          <p:cNvPr id="23" name="native-366">
            <a:extLst>
              <a:ext uri="{FF2B5EF4-FFF2-40B4-BE49-F238E27FC236}">
                <a16:creationId xmlns:a16="http://schemas.microsoft.com/office/drawing/2014/main" id="{85AA7ADC-B1AE-4391-A10D-E050A3DB975C}"/>
              </a:ext>
            </a:extLst>
          </p:cNvPr>
          <p:cNvSpPr>
            <a:spLocks noGrp="1"/>
          </p:cNvSpPr>
          <p:nvPr/>
        </p:nvSpPr>
        <p:spPr>
          <a:xfrm>
            <a:off x="1657350" y="5766435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native-367">
            <a:extLst>
              <a:ext uri="{FF2B5EF4-FFF2-40B4-BE49-F238E27FC236}">
                <a16:creationId xmlns:a16="http://schemas.microsoft.com/office/drawing/2014/main" id="{D5B4E47E-E2DF-4259-AC31-1EB32F15CBC1}"/>
              </a:ext>
            </a:extLst>
          </p:cNvPr>
          <p:cNvSpPr>
            <a:spLocks noGrp="1"/>
          </p:cNvSpPr>
          <p:nvPr/>
        </p:nvSpPr>
        <p:spPr>
          <a:xfrm>
            <a:off x="1943100" y="5766435"/>
            <a:ext cx="10477500" cy="3590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API contracts and requirement documents are updated as each Use Case is integrated.</a:t>
            </a:r>
          </a:p>
        </p:txBody>
      </p:sp>
    </p:spTree>
    <p:extLst>
      <p:ext uri="{BB962C8B-B14F-4D97-AF65-F5344CB8AC3E}">
        <p14:creationId xmlns:p14="http://schemas.microsoft.com/office/powerpoint/2010/main" val="506286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368">
            <a:extLst>
              <a:ext uri="{FF2B5EF4-FFF2-40B4-BE49-F238E27FC236}">
                <a16:creationId xmlns:a16="http://schemas.microsoft.com/office/drawing/2014/main" id="{A48FCD6D-E3A9-49B4-8DBB-C9A5EBCD5D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369">
            <a:extLst>
              <a:ext uri="{FF2B5EF4-FFF2-40B4-BE49-F238E27FC236}">
                <a16:creationId xmlns:a16="http://schemas.microsoft.com/office/drawing/2014/main" id="{2A565583-F63C-4EA6-B52A-806E5CEAB977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370">
            <a:extLst>
              <a:ext uri="{FF2B5EF4-FFF2-40B4-BE49-F238E27FC236}">
                <a16:creationId xmlns:a16="http://schemas.microsoft.com/office/drawing/2014/main" id="{F5AFAEC0-017B-40DA-8A30-C5075596BD7A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2333625" cy="2381250"/>
          </a:xfrm>
          <a:prstGeom prst="rtTriangle">
            <a:avLst/>
          </a:prstGeom>
          <a:solidFill>
            <a:srgbClr val="BBD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371">
            <a:extLst>
              <a:ext uri="{FF2B5EF4-FFF2-40B4-BE49-F238E27FC236}">
                <a16:creationId xmlns:a16="http://schemas.microsoft.com/office/drawing/2014/main" id="{36B61A6D-0321-48A2-950B-CFBF0B5C0CBF}"/>
              </a:ext>
            </a:extLst>
          </p:cNvPr>
          <p:cNvSpPr>
            <a:spLocks noGrp="1"/>
          </p:cNvSpPr>
          <p:nvPr/>
        </p:nvSpPr>
        <p:spPr>
          <a:xfrm rot="16200000">
            <a:off x="11525250" y="5238750"/>
            <a:ext cx="2190750" cy="247650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tive-372">
            <a:extLst>
              <a:ext uri="{FF2B5EF4-FFF2-40B4-BE49-F238E27FC236}">
                <a16:creationId xmlns:a16="http://schemas.microsoft.com/office/drawing/2014/main" id="{74ECE531-3E32-4F15-8A5B-760D8CA8A145}"/>
              </a:ext>
            </a:extLst>
          </p:cNvPr>
          <p:cNvSpPr>
            <a:spLocks noGrp="1"/>
          </p:cNvSpPr>
          <p:nvPr/>
        </p:nvSpPr>
        <p:spPr>
          <a:xfrm>
            <a:off x="781050" y="7486650"/>
            <a:ext cx="11953875" cy="400050"/>
          </a:xfrm>
          <a:prstGeom prst="roundRect">
            <a:avLst>
              <a:gd name="adj" fmla="val 19048"/>
            </a:avLst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-373">
            <a:extLst>
              <a:ext uri="{FF2B5EF4-FFF2-40B4-BE49-F238E27FC236}">
                <a16:creationId xmlns:a16="http://schemas.microsoft.com/office/drawing/2014/main" id="{A872680C-4762-475D-800D-D5534C993B34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25</a:t>
            </a:r>
          </a:p>
        </p:txBody>
      </p:sp>
      <p:sp>
        <p:nvSpPr>
          <p:cNvPr id="7" name="native-374">
            <a:extLst>
              <a:ext uri="{FF2B5EF4-FFF2-40B4-BE49-F238E27FC236}">
                <a16:creationId xmlns:a16="http://schemas.microsoft.com/office/drawing/2014/main" id="{5A82D575-0998-46DB-A667-EC20BF8D2C5C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III. SOFTWARE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REQUIREMENT</a:t>
            </a:r>
          </a:p>
          <a:p>
            <a:pPr algn="ctr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4B0D66-C081-4038-A30B-E204C1D8E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29188" y="2552700"/>
            <a:ext cx="38576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02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native-375">
            <a:extLst>
              <a:ext uri="{FF2B5EF4-FFF2-40B4-BE49-F238E27FC236}">
                <a16:creationId xmlns:a16="http://schemas.microsoft.com/office/drawing/2014/main" id="{F978843A-BC52-466E-BEFE-8150B35FA7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376">
            <a:extLst>
              <a:ext uri="{FF2B5EF4-FFF2-40B4-BE49-F238E27FC236}">
                <a16:creationId xmlns:a16="http://schemas.microsoft.com/office/drawing/2014/main" id="{ED890CC3-A98C-44E1-B738-232191261A67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377">
            <a:extLst>
              <a:ext uri="{FF2B5EF4-FFF2-40B4-BE49-F238E27FC236}">
                <a16:creationId xmlns:a16="http://schemas.microsoft.com/office/drawing/2014/main" id="{4CDDA7AF-BD0F-48C9-B8B8-A25B9E735159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378">
            <a:extLst>
              <a:ext uri="{FF2B5EF4-FFF2-40B4-BE49-F238E27FC236}">
                <a16:creationId xmlns:a16="http://schemas.microsoft.com/office/drawing/2014/main" id="{A2AA6DFD-0D5C-4A9A-8A93-450F2A980CCB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26</a:t>
            </a:r>
          </a:p>
        </p:txBody>
      </p:sp>
      <p:sp>
        <p:nvSpPr>
          <p:cNvPr id="5" name="native-379">
            <a:extLst>
              <a:ext uri="{FF2B5EF4-FFF2-40B4-BE49-F238E27FC236}">
                <a16:creationId xmlns:a16="http://schemas.microsoft.com/office/drawing/2014/main" id="{3018A76F-3188-4871-9E1B-7541E4D79E14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SOFTWARE REQUIREMENT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6" name="native-380">
            <a:extLst>
              <a:ext uri="{FF2B5EF4-FFF2-40B4-BE49-F238E27FC236}">
                <a16:creationId xmlns:a16="http://schemas.microsoft.com/office/drawing/2014/main" id="{FB003B6B-C9B2-40A6-AFE3-08D4134A3755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561975" cy="561975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native-381">
            <a:extLst>
              <a:ext uri="{FF2B5EF4-FFF2-40B4-BE49-F238E27FC236}">
                <a16:creationId xmlns:a16="http://schemas.microsoft.com/office/drawing/2014/main" id="{4962B57F-63A5-4C4B-B3AE-C7988066F75C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Context Diagram</a:t>
            </a:r>
          </a:p>
        </p:txBody>
      </p:sp>
      <p:sp>
        <p:nvSpPr>
          <p:cNvPr id="8" name="native-382">
            <a:extLst>
              <a:ext uri="{FF2B5EF4-FFF2-40B4-BE49-F238E27FC236}">
                <a16:creationId xmlns:a16="http://schemas.microsoft.com/office/drawing/2014/main" id="{8F48E06A-1CAF-4730-BBE3-93B449119D53}"/>
              </a:ext>
            </a:extLst>
          </p:cNvPr>
          <p:cNvSpPr>
            <a:spLocks noGrp="1"/>
          </p:cNvSpPr>
          <p:nvPr/>
        </p:nvSpPr>
        <p:spPr>
          <a:xfrm>
            <a:off x="895350" y="2495550"/>
            <a:ext cx="561975" cy="561975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native-383">
            <a:extLst>
              <a:ext uri="{FF2B5EF4-FFF2-40B4-BE49-F238E27FC236}">
                <a16:creationId xmlns:a16="http://schemas.microsoft.com/office/drawing/2014/main" id="{2D9EC205-80E2-4552-95C1-CAC084BB2312}"/>
              </a:ext>
            </a:extLst>
          </p:cNvPr>
          <p:cNvSpPr>
            <a:spLocks noGrp="1"/>
          </p:cNvSpPr>
          <p:nvPr/>
        </p:nvSpPr>
        <p:spPr>
          <a:xfrm>
            <a:off x="1905000" y="259080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Use Case Diagrams</a:t>
            </a:r>
          </a:p>
        </p:txBody>
      </p:sp>
      <p:sp>
        <p:nvSpPr>
          <p:cNvPr id="10" name="native-384">
            <a:extLst>
              <a:ext uri="{FF2B5EF4-FFF2-40B4-BE49-F238E27FC236}">
                <a16:creationId xmlns:a16="http://schemas.microsoft.com/office/drawing/2014/main" id="{CF6384A5-0A25-4CCB-8355-1A498CD6710E}"/>
              </a:ext>
            </a:extLst>
          </p:cNvPr>
          <p:cNvSpPr>
            <a:spLocks noGrp="1"/>
          </p:cNvSpPr>
          <p:nvPr/>
        </p:nvSpPr>
        <p:spPr>
          <a:xfrm>
            <a:off x="895350" y="3333750"/>
            <a:ext cx="561975" cy="561975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native-385">
            <a:extLst>
              <a:ext uri="{FF2B5EF4-FFF2-40B4-BE49-F238E27FC236}">
                <a16:creationId xmlns:a16="http://schemas.microsoft.com/office/drawing/2014/main" id="{9561B195-E199-4825-AC1E-90F1B315986C}"/>
              </a:ext>
            </a:extLst>
          </p:cNvPr>
          <p:cNvSpPr>
            <a:spLocks noGrp="1"/>
          </p:cNvSpPr>
          <p:nvPr/>
        </p:nvSpPr>
        <p:spPr>
          <a:xfrm>
            <a:off x="1905000" y="342900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Business Flows</a:t>
            </a:r>
          </a:p>
        </p:txBody>
      </p:sp>
      <p:sp>
        <p:nvSpPr>
          <p:cNvPr id="12" name="native-386">
            <a:extLst>
              <a:ext uri="{FF2B5EF4-FFF2-40B4-BE49-F238E27FC236}">
                <a16:creationId xmlns:a16="http://schemas.microsoft.com/office/drawing/2014/main" id="{F9F0FC3A-ACC2-4DB9-867B-F61DA6419357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561975" cy="561975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native-387">
            <a:extLst>
              <a:ext uri="{FF2B5EF4-FFF2-40B4-BE49-F238E27FC236}">
                <a16:creationId xmlns:a16="http://schemas.microsoft.com/office/drawing/2014/main" id="{5710CE0C-E3E4-40CF-B286-856328CA6E14}"/>
              </a:ext>
            </a:extLst>
          </p:cNvPr>
          <p:cNvSpPr>
            <a:spLocks noGrp="1"/>
          </p:cNvSpPr>
          <p:nvPr/>
        </p:nvSpPr>
        <p:spPr>
          <a:xfrm>
            <a:off x="1905000" y="426720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State Machines</a:t>
            </a:r>
          </a:p>
        </p:txBody>
      </p:sp>
      <p:sp>
        <p:nvSpPr>
          <p:cNvPr id="14" name="native-388">
            <a:extLst>
              <a:ext uri="{FF2B5EF4-FFF2-40B4-BE49-F238E27FC236}">
                <a16:creationId xmlns:a16="http://schemas.microsoft.com/office/drawing/2014/main" id="{7FDCDD50-3194-45C4-9B73-6D69494FEA2B}"/>
              </a:ext>
            </a:extLst>
          </p:cNvPr>
          <p:cNvSpPr>
            <a:spLocks noGrp="1"/>
          </p:cNvSpPr>
          <p:nvPr/>
        </p:nvSpPr>
        <p:spPr>
          <a:xfrm>
            <a:off x="895350" y="5010150"/>
            <a:ext cx="561975" cy="561975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native-389">
            <a:extLst>
              <a:ext uri="{FF2B5EF4-FFF2-40B4-BE49-F238E27FC236}">
                <a16:creationId xmlns:a16="http://schemas.microsoft.com/office/drawing/2014/main" id="{A8049D06-9491-4356-9A07-215CFEBB7B03}"/>
              </a:ext>
            </a:extLst>
          </p:cNvPr>
          <p:cNvSpPr>
            <a:spLocks noGrp="1"/>
          </p:cNvSpPr>
          <p:nvPr/>
        </p:nvSpPr>
        <p:spPr>
          <a:xfrm>
            <a:off x="1905000" y="510540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Entity Relationship Diagram</a:t>
            </a:r>
          </a:p>
        </p:txBody>
      </p:sp>
      <p:sp>
        <p:nvSpPr>
          <p:cNvPr id="16" name="native-390">
            <a:extLst>
              <a:ext uri="{FF2B5EF4-FFF2-40B4-BE49-F238E27FC236}">
                <a16:creationId xmlns:a16="http://schemas.microsoft.com/office/drawing/2014/main" id="{540ECBF0-697C-460D-9F51-730F4EEF2120}"/>
              </a:ext>
            </a:extLst>
          </p:cNvPr>
          <p:cNvSpPr>
            <a:spLocks noGrp="1"/>
          </p:cNvSpPr>
          <p:nvPr/>
        </p:nvSpPr>
        <p:spPr>
          <a:xfrm>
            <a:off x="895350" y="5848350"/>
            <a:ext cx="561975" cy="561975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native-391">
            <a:extLst>
              <a:ext uri="{FF2B5EF4-FFF2-40B4-BE49-F238E27FC236}">
                <a16:creationId xmlns:a16="http://schemas.microsoft.com/office/drawing/2014/main" id="{B4E753BC-549F-4AE6-821E-9B5E06E79673}"/>
              </a:ext>
            </a:extLst>
          </p:cNvPr>
          <p:cNvSpPr>
            <a:spLocks noGrp="1"/>
          </p:cNvSpPr>
          <p:nvPr/>
        </p:nvSpPr>
        <p:spPr>
          <a:xfrm>
            <a:off x="1905000" y="5943600"/>
            <a:ext cx="1038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Non-Functional Requirements</a:t>
            </a:r>
          </a:p>
        </p:txBody>
      </p:sp>
      <p:sp>
        <p:nvSpPr>
          <p:cNvPr id="18" name="native-392">
            <a:extLst>
              <a:ext uri="{FF2B5EF4-FFF2-40B4-BE49-F238E27FC236}">
                <a16:creationId xmlns:a16="http://schemas.microsoft.com/office/drawing/2014/main" id="{BE7D8566-42CA-4CD1-AB1B-44E0AD0DF9BC}"/>
              </a:ext>
            </a:extLst>
          </p:cNvPr>
          <p:cNvSpPr>
            <a:spLocks noGrp="1"/>
          </p:cNvSpPr>
          <p:nvPr/>
        </p:nvSpPr>
        <p:spPr>
          <a:xfrm>
            <a:off x="904875" y="6972300"/>
            <a:ext cx="119538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endParaRPr sz="1725" b="1" dirty="0">
              <a:solidFill>
                <a:srgbClr val="2A4D9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native-58">
            <a:extLst>
              <a:ext uri="{FF2B5EF4-FFF2-40B4-BE49-F238E27FC236}">
                <a16:creationId xmlns:a16="http://schemas.microsoft.com/office/drawing/2014/main" id="{1C841A9B-FA8C-4C8B-84A7-A7F806FC1A85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59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393">
            <a:extLst>
              <a:ext uri="{FF2B5EF4-FFF2-40B4-BE49-F238E27FC236}">
                <a16:creationId xmlns:a16="http://schemas.microsoft.com/office/drawing/2014/main" id="{E11B8E3C-9E91-41FD-B565-1E093D40D6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394">
            <a:extLst>
              <a:ext uri="{FF2B5EF4-FFF2-40B4-BE49-F238E27FC236}">
                <a16:creationId xmlns:a16="http://schemas.microsoft.com/office/drawing/2014/main" id="{4DF0F6F0-E403-412A-B8EB-E97E42C07B65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395">
            <a:extLst>
              <a:ext uri="{FF2B5EF4-FFF2-40B4-BE49-F238E27FC236}">
                <a16:creationId xmlns:a16="http://schemas.microsoft.com/office/drawing/2014/main" id="{AABF8B8A-6691-482B-9166-D17EBD1AC0C6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396">
            <a:extLst>
              <a:ext uri="{FF2B5EF4-FFF2-40B4-BE49-F238E27FC236}">
                <a16:creationId xmlns:a16="http://schemas.microsoft.com/office/drawing/2014/main" id="{48FA65EA-6A9F-42D0-9867-1E5583366070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27</a:t>
            </a:r>
          </a:p>
        </p:txBody>
      </p:sp>
      <p:sp>
        <p:nvSpPr>
          <p:cNvPr id="5" name="native-397">
            <a:extLst>
              <a:ext uri="{FF2B5EF4-FFF2-40B4-BE49-F238E27FC236}">
                <a16:creationId xmlns:a16="http://schemas.microsoft.com/office/drawing/2014/main" id="{144AE591-34C6-4066-8427-1D8428E318CF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CONTEXT DIAGRAM</a:t>
            </a:r>
          </a:p>
        </p:txBody>
      </p:sp>
      <p:sp>
        <p:nvSpPr>
          <p:cNvPr id="6" name="native-398">
            <a:extLst>
              <a:ext uri="{FF2B5EF4-FFF2-40B4-BE49-F238E27FC236}">
                <a16:creationId xmlns:a16="http://schemas.microsoft.com/office/drawing/2014/main" id="{4AED2140-2E3B-4C25-8A55-4528AC1E49F1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399">
            <a:extLst>
              <a:ext uri="{FF2B5EF4-FFF2-40B4-BE49-F238E27FC236}">
                <a16:creationId xmlns:a16="http://schemas.microsoft.com/office/drawing/2014/main" id="{301782D0-8CE1-48E1-A805-832B1B98EA07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BFC0-07A0-47F8-A2B6-900154963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16577" y="1444752"/>
            <a:ext cx="6844746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4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00">
            <a:extLst>
              <a:ext uri="{FF2B5EF4-FFF2-40B4-BE49-F238E27FC236}">
                <a16:creationId xmlns:a16="http://schemas.microsoft.com/office/drawing/2014/main" id="{BC34F878-0955-45F9-9A93-01840C7487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01">
            <a:extLst>
              <a:ext uri="{FF2B5EF4-FFF2-40B4-BE49-F238E27FC236}">
                <a16:creationId xmlns:a16="http://schemas.microsoft.com/office/drawing/2014/main" id="{ECA87E05-3A17-49F2-B28B-3F24E65E0191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02">
            <a:extLst>
              <a:ext uri="{FF2B5EF4-FFF2-40B4-BE49-F238E27FC236}">
                <a16:creationId xmlns:a16="http://schemas.microsoft.com/office/drawing/2014/main" id="{B40268E2-7A72-465B-896C-EFE0897154E4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03">
            <a:extLst>
              <a:ext uri="{FF2B5EF4-FFF2-40B4-BE49-F238E27FC236}">
                <a16:creationId xmlns:a16="http://schemas.microsoft.com/office/drawing/2014/main" id="{C4030659-8219-4CBF-939F-A07DC749F2A4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28</a:t>
            </a:r>
          </a:p>
        </p:txBody>
      </p:sp>
      <p:sp>
        <p:nvSpPr>
          <p:cNvPr id="5" name="native-404">
            <a:extLst>
              <a:ext uri="{FF2B5EF4-FFF2-40B4-BE49-F238E27FC236}">
                <a16:creationId xmlns:a16="http://schemas.microsoft.com/office/drawing/2014/main" id="{7B7AD4CE-B93B-47E5-9EED-67DF0CE12D8E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USE CASE DIAGRAM — SYSTEM ADMIN</a:t>
            </a:r>
          </a:p>
        </p:txBody>
      </p:sp>
      <p:sp>
        <p:nvSpPr>
          <p:cNvPr id="6" name="native-405">
            <a:extLst>
              <a:ext uri="{FF2B5EF4-FFF2-40B4-BE49-F238E27FC236}">
                <a16:creationId xmlns:a16="http://schemas.microsoft.com/office/drawing/2014/main" id="{D26F882B-B225-456F-A660-277EA5BDBA9B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06">
            <a:extLst>
              <a:ext uri="{FF2B5EF4-FFF2-40B4-BE49-F238E27FC236}">
                <a16:creationId xmlns:a16="http://schemas.microsoft.com/office/drawing/2014/main" id="{1BA82095-1AB9-45C5-AC2A-A1A1057A031D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2CCED-C651-411A-81FC-4B11F7F49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80966" y="1444752"/>
            <a:ext cx="5515968" cy="524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21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07">
            <a:extLst>
              <a:ext uri="{FF2B5EF4-FFF2-40B4-BE49-F238E27FC236}">
                <a16:creationId xmlns:a16="http://schemas.microsoft.com/office/drawing/2014/main" id="{A063D619-310A-4A71-AA37-E47B0D2C9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08">
            <a:extLst>
              <a:ext uri="{FF2B5EF4-FFF2-40B4-BE49-F238E27FC236}">
                <a16:creationId xmlns:a16="http://schemas.microsoft.com/office/drawing/2014/main" id="{B29F7C98-C762-4990-87D9-44D383F5880D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09">
            <a:extLst>
              <a:ext uri="{FF2B5EF4-FFF2-40B4-BE49-F238E27FC236}">
                <a16:creationId xmlns:a16="http://schemas.microsoft.com/office/drawing/2014/main" id="{1934D118-70A7-4CE5-91D3-35926ACCAD4C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10">
            <a:extLst>
              <a:ext uri="{FF2B5EF4-FFF2-40B4-BE49-F238E27FC236}">
                <a16:creationId xmlns:a16="http://schemas.microsoft.com/office/drawing/2014/main" id="{E2BCBBE2-2375-47AD-A68C-EB21300F2CC4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29</a:t>
            </a:r>
          </a:p>
        </p:txBody>
      </p:sp>
      <p:sp>
        <p:nvSpPr>
          <p:cNvPr id="5" name="native-411">
            <a:extLst>
              <a:ext uri="{FF2B5EF4-FFF2-40B4-BE49-F238E27FC236}">
                <a16:creationId xmlns:a16="http://schemas.microsoft.com/office/drawing/2014/main" id="{B7FDB5AB-D137-4DB7-BF2E-766F0EA923E4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USE CASE DIAGRAM — MEETING ORGANIZER</a:t>
            </a:r>
          </a:p>
        </p:txBody>
      </p:sp>
      <p:sp>
        <p:nvSpPr>
          <p:cNvPr id="6" name="native-412">
            <a:extLst>
              <a:ext uri="{FF2B5EF4-FFF2-40B4-BE49-F238E27FC236}">
                <a16:creationId xmlns:a16="http://schemas.microsoft.com/office/drawing/2014/main" id="{80E75C2F-44CA-435E-B471-2CFF2EA24DF2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13">
            <a:extLst>
              <a:ext uri="{FF2B5EF4-FFF2-40B4-BE49-F238E27FC236}">
                <a16:creationId xmlns:a16="http://schemas.microsoft.com/office/drawing/2014/main" id="{3ADFE94D-947D-4BCB-93BA-BE611EFA09B9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38C600-C50D-43C8-9128-15834D91D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57722" y="1444752"/>
            <a:ext cx="5762455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14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14">
            <a:extLst>
              <a:ext uri="{FF2B5EF4-FFF2-40B4-BE49-F238E27FC236}">
                <a16:creationId xmlns:a16="http://schemas.microsoft.com/office/drawing/2014/main" id="{FC285C69-260F-4887-BC8B-408B1CA017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15">
            <a:extLst>
              <a:ext uri="{FF2B5EF4-FFF2-40B4-BE49-F238E27FC236}">
                <a16:creationId xmlns:a16="http://schemas.microsoft.com/office/drawing/2014/main" id="{1000DC01-D8B3-4CC3-AAE8-F8DCEB01A775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16">
            <a:extLst>
              <a:ext uri="{FF2B5EF4-FFF2-40B4-BE49-F238E27FC236}">
                <a16:creationId xmlns:a16="http://schemas.microsoft.com/office/drawing/2014/main" id="{D7671434-06E0-4799-AD39-82F235F0ADA6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17">
            <a:extLst>
              <a:ext uri="{FF2B5EF4-FFF2-40B4-BE49-F238E27FC236}">
                <a16:creationId xmlns:a16="http://schemas.microsoft.com/office/drawing/2014/main" id="{7B473825-D31A-4EC6-813E-9447FA0752D6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30</a:t>
            </a:r>
          </a:p>
        </p:txBody>
      </p:sp>
      <p:sp>
        <p:nvSpPr>
          <p:cNvPr id="5" name="native-418">
            <a:extLst>
              <a:ext uri="{FF2B5EF4-FFF2-40B4-BE49-F238E27FC236}">
                <a16:creationId xmlns:a16="http://schemas.microsoft.com/office/drawing/2014/main" id="{55905E06-0287-489C-A4B3-4962CCE9F8C5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USE CASE DIAGRAM — MEETING APPROVER</a:t>
            </a:r>
          </a:p>
        </p:txBody>
      </p:sp>
      <p:sp>
        <p:nvSpPr>
          <p:cNvPr id="6" name="native-419">
            <a:extLst>
              <a:ext uri="{FF2B5EF4-FFF2-40B4-BE49-F238E27FC236}">
                <a16:creationId xmlns:a16="http://schemas.microsoft.com/office/drawing/2014/main" id="{DBCD7151-9735-4229-A668-ACF629454954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20">
            <a:extLst>
              <a:ext uri="{FF2B5EF4-FFF2-40B4-BE49-F238E27FC236}">
                <a16:creationId xmlns:a16="http://schemas.microsoft.com/office/drawing/2014/main" id="{135F598D-BFE3-40BC-9928-1E6CF2F41719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4227D-2BF9-41C3-9A4D-96A073D05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04388" y="1444752"/>
            <a:ext cx="4869123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70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21">
            <a:extLst>
              <a:ext uri="{FF2B5EF4-FFF2-40B4-BE49-F238E27FC236}">
                <a16:creationId xmlns:a16="http://schemas.microsoft.com/office/drawing/2014/main" id="{06B4C2FF-B503-4BCF-AAFB-A64ABCAA60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22">
            <a:extLst>
              <a:ext uri="{FF2B5EF4-FFF2-40B4-BE49-F238E27FC236}">
                <a16:creationId xmlns:a16="http://schemas.microsoft.com/office/drawing/2014/main" id="{5E008385-D945-438F-9458-79EFE680E194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23">
            <a:extLst>
              <a:ext uri="{FF2B5EF4-FFF2-40B4-BE49-F238E27FC236}">
                <a16:creationId xmlns:a16="http://schemas.microsoft.com/office/drawing/2014/main" id="{0F74A009-67B1-46B3-894E-BB8C5C643B7C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24">
            <a:extLst>
              <a:ext uri="{FF2B5EF4-FFF2-40B4-BE49-F238E27FC236}">
                <a16:creationId xmlns:a16="http://schemas.microsoft.com/office/drawing/2014/main" id="{1152F4A5-BCB1-4B80-A5EB-704DFED52B25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31</a:t>
            </a:r>
          </a:p>
        </p:txBody>
      </p:sp>
      <p:sp>
        <p:nvSpPr>
          <p:cNvPr id="5" name="native-425">
            <a:extLst>
              <a:ext uri="{FF2B5EF4-FFF2-40B4-BE49-F238E27FC236}">
                <a16:creationId xmlns:a16="http://schemas.microsoft.com/office/drawing/2014/main" id="{EF047B23-ABC9-4DB9-9770-85A83BEEC4EA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USE CASE DIAGRAM — CHAIR</a:t>
            </a:r>
          </a:p>
        </p:txBody>
      </p:sp>
      <p:sp>
        <p:nvSpPr>
          <p:cNvPr id="6" name="native-426">
            <a:extLst>
              <a:ext uri="{FF2B5EF4-FFF2-40B4-BE49-F238E27FC236}">
                <a16:creationId xmlns:a16="http://schemas.microsoft.com/office/drawing/2014/main" id="{1A597B33-8293-41F9-93C0-A138FF0FB26D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27">
            <a:extLst>
              <a:ext uri="{FF2B5EF4-FFF2-40B4-BE49-F238E27FC236}">
                <a16:creationId xmlns:a16="http://schemas.microsoft.com/office/drawing/2014/main" id="{E99E1D95-D876-4AF8-99B6-6F5A68DE52CE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BFAB0-6CA0-411A-8007-50E798E61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48669" y="1444752"/>
            <a:ext cx="6380561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795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28">
            <a:extLst>
              <a:ext uri="{FF2B5EF4-FFF2-40B4-BE49-F238E27FC236}">
                <a16:creationId xmlns:a16="http://schemas.microsoft.com/office/drawing/2014/main" id="{8EA9EDA5-C0E5-4B86-9063-93D653671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29">
            <a:extLst>
              <a:ext uri="{FF2B5EF4-FFF2-40B4-BE49-F238E27FC236}">
                <a16:creationId xmlns:a16="http://schemas.microsoft.com/office/drawing/2014/main" id="{D255E411-3807-4081-8210-5863521657AB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30">
            <a:extLst>
              <a:ext uri="{FF2B5EF4-FFF2-40B4-BE49-F238E27FC236}">
                <a16:creationId xmlns:a16="http://schemas.microsoft.com/office/drawing/2014/main" id="{78CBAA23-77FC-4600-9E27-2AA7021BA229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31">
            <a:extLst>
              <a:ext uri="{FF2B5EF4-FFF2-40B4-BE49-F238E27FC236}">
                <a16:creationId xmlns:a16="http://schemas.microsoft.com/office/drawing/2014/main" id="{C4A748FE-D78F-4D3E-8F7D-7F7D214F670B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32</a:t>
            </a:r>
          </a:p>
        </p:txBody>
      </p:sp>
      <p:sp>
        <p:nvSpPr>
          <p:cNvPr id="5" name="native-432">
            <a:extLst>
              <a:ext uri="{FF2B5EF4-FFF2-40B4-BE49-F238E27FC236}">
                <a16:creationId xmlns:a16="http://schemas.microsoft.com/office/drawing/2014/main" id="{9D09E41D-4A25-4E4D-A3CF-B645A8B59E58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USE CASE DIAGRAM — SECRETARY</a:t>
            </a:r>
          </a:p>
        </p:txBody>
      </p:sp>
      <p:sp>
        <p:nvSpPr>
          <p:cNvPr id="6" name="native-433">
            <a:extLst>
              <a:ext uri="{FF2B5EF4-FFF2-40B4-BE49-F238E27FC236}">
                <a16:creationId xmlns:a16="http://schemas.microsoft.com/office/drawing/2014/main" id="{C48F9585-C9F2-47D0-9E8F-301CE65BF8DA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34">
            <a:extLst>
              <a:ext uri="{FF2B5EF4-FFF2-40B4-BE49-F238E27FC236}">
                <a16:creationId xmlns:a16="http://schemas.microsoft.com/office/drawing/2014/main" id="{BD375392-9EBD-41C8-986D-8B82C3F477CE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1FD093-1E16-489B-B79E-BF0D6D74B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30881" y="1444752"/>
            <a:ext cx="5016138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64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35">
            <a:extLst>
              <a:ext uri="{FF2B5EF4-FFF2-40B4-BE49-F238E27FC236}">
                <a16:creationId xmlns:a16="http://schemas.microsoft.com/office/drawing/2014/main" id="{FBD549C3-4762-487B-86B4-6C358B7715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36">
            <a:extLst>
              <a:ext uri="{FF2B5EF4-FFF2-40B4-BE49-F238E27FC236}">
                <a16:creationId xmlns:a16="http://schemas.microsoft.com/office/drawing/2014/main" id="{8E9EFE2E-5B94-4AE2-9EF8-F1CB796C515C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37">
            <a:extLst>
              <a:ext uri="{FF2B5EF4-FFF2-40B4-BE49-F238E27FC236}">
                <a16:creationId xmlns:a16="http://schemas.microsoft.com/office/drawing/2014/main" id="{D9D79FDA-28A4-4422-B505-D1F62D04DC2A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38">
            <a:extLst>
              <a:ext uri="{FF2B5EF4-FFF2-40B4-BE49-F238E27FC236}">
                <a16:creationId xmlns:a16="http://schemas.microsoft.com/office/drawing/2014/main" id="{5480053C-D84A-4AE6-BD99-E8E0BDF42AFF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33</a:t>
            </a:r>
          </a:p>
        </p:txBody>
      </p:sp>
      <p:sp>
        <p:nvSpPr>
          <p:cNvPr id="5" name="native-439">
            <a:extLst>
              <a:ext uri="{FF2B5EF4-FFF2-40B4-BE49-F238E27FC236}">
                <a16:creationId xmlns:a16="http://schemas.microsoft.com/office/drawing/2014/main" id="{440553ED-8106-48A7-81BB-2199732FA602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USE CASE DIAGRAM — PARTICIPANT</a:t>
            </a:r>
          </a:p>
        </p:txBody>
      </p:sp>
      <p:sp>
        <p:nvSpPr>
          <p:cNvPr id="6" name="native-440">
            <a:extLst>
              <a:ext uri="{FF2B5EF4-FFF2-40B4-BE49-F238E27FC236}">
                <a16:creationId xmlns:a16="http://schemas.microsoft.com/office/drawing/2014/main" id="{67D754E7-7B42-46D6-865A-E08E336AFCF2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41">
            <a:extLst>
              <a:ext uri="{FF2B5EF4-FFF2-40B4-BE49-F238E27FC236}">
                <a16:creationId xmlns:a16="http://schemas.microsoft.com/office/drawing/2014/main" id="{2556D559-AC64-446B-8CAB-F970F0088393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F54CFD-D2C2-4F1D-8730-325AD80D6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80095" y="1444752"/>
            <a:ext cx="6717709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58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42">
            <a:extLst>
              <a:ext uri="{FF2B5EF4-FFF2-40B4-BE49-F238E27FC236}">
                <a16:creationId xmlns:a16="http://schemas.microsoft.com/office/drawing/2014/main" id="{6C60BCB1-506A-4909-ACD6-9F77F93C49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43">
            <a:extLst>
              <a:ext uri="{FF2B5EF4-FFF2-40B4-BE49-F238E27FC236}">
                <a16:creationId xmlns:a16="http://schemas.microsoft.com/office/drawing/2014/main" id="{7EA8ECA9-59BB-4592-A3C4-4D7ABDDA9588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44">
            <a:extLst>
              <a:ext uri="{FF2B5EF4-FFF2-40B4-BE49-F238E27FC236}">
                <a16:creationId xmlns:a16="http://schemas.microsoft.com/office/drawing/2014/main" id="{8A631229-B84E-4A38-AC3E-9444B3E251A4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45">
            <a:extLst>
              <a:ext uri="{FF2B5EF4-FFF2-40B4-BE49-F238E27FC236}">
                <a16:creationId xmlns:a16="http://schemas.microsoft.com/office/drawing/2014/main" id="{1C566261-3165-4DFF-82DB-87E8F31BF7F2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34</a:t>
            </a:r>
          </a:p>
        </p:txBody>
      </p:sp>
      <p:sp>
        <p:nvSpPr>
          <p:cNvPr id="5" name="native-446">
            <a:extLst>
              <a:ext uri="{FF2B5EF4-FFF2-40B4-BE49-F238E27FC236}">
                <a16:creationId xmlns:a16="http://schemas.microsoft.com/office/drawing/2014/main" id="{6E930D20-AF7F-422C-BA34-A3D93E514AB0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USE CASE DIAGRAM — GUEST</a:t>
            </a:r>
          </a:p>
        </p:txBody>
      </p:sp>
      <p:sp>
        <p:nvSpPr>
          <p:cNvPr id="6" name="native-447">
            <a:extLst>
              <a:ext uri="{FF2B5EF4-FFF2-40B4-BE49-F238E27FC236}">
                <a16:creationId xmlns:a16="http://schemas.microsoft.com/office/drawing/2014/main" id="{1D84DC5F-292C-489D-8874-C7A312FD09D7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48">
            <a:extLst>
              <a:ext uri="{FF2B5EF4-FFF2-40B4-BE49-F238E27FC236}">
                <a16:creationId xmlns:a16="http://schemas.microsoft.com/office/drawing/2014/main" id="{0634227C-2921-4B20-ACB0-04EA0C291907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A56C70-A4BC-47BE-B83B-CED49FDF8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43002" y="1444752"/>
            <a:ext cx="5791895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573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49">
            <a:extLst>
              <a:ext uri="{FF2B5EF4-FFF2-40B4-BE49-F238E27FC236}">
                <a16:creationId xmlns:a16="http://schemas.microsoft.com/office/drawing/2014/main" id="{4909311E-B9A9-471E-BDD8-9C0F7B480D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50">
            <a:extLst>
              <a:ext uri="{FF2B5EF4-FFF2-40B4-BE49-F238E27FC236}">
                <a16:creationId xmlns:a16="http://schemas.microsoft.com/office/drawing/2014/main" id="{51DCF2B3-485E-44A1-A04E-9BE93E276482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51">
            <a:extLst>
              <a:ext uri="{FF2B5EF4-FFF2-40B4-BE49-F238E27FC236}">
                <a16:creationId xmlns:a16="http://schemas.microsoft.com/office/drawing/2014/main" id="{0A7C6B26-5A65-4CF7-BFC4-23323B882383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52">
            <a:extLst>
              <a:ext uri="{FF2B5EF4-FFF2-40B4-BE49-F238E27FC236}">
                <a16:creationId xmlns:a16="http://schemas.microsoft.com/office/drawing/2014/main" id="{55AB3620-07B5-472E-89ED-10347CD70D5A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35</a:t>
            </a:r>
          </a:p>
        </p:txBody>
      </p:sp>
      <p:sp>
        <p:nvSpPr>
          <p:cNvPr id="5" name="native-453">
            <a:extLst>
              <a:ext uri="{FF2B5EF4-FFF2-40B4-BE49-F238E27FC236}">
                <a16:creationId xmlns:a16="http://schemas.microsoft.com/office/drawing/2014/main" id="{00EA8BCB-6C5B-4D9B-A3CE-0A9D5629F4EA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BF-01 — SYSTEM ACCESS &amp; ADMINISTRATION</a:t>
            </a:r>
          </a:p>
        </p:txBody>
      </p:sp>
      <p:sp>
        <p:nvSpPr>
          <p:cNvPr id="6" name="native-454">
            <a:extLst>
              <a:ext uri="{FF2B5EF4-FFF2-40B4-BE49-F238E27FC236}">
                <a16:creationId xmlns:a16="http://schemas.microsoft.com/office/drawing/2014/main" id="{2E1B0832-A8CA-4601-844E-0D8B3CB9DF05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55">
            <a:extLst>
              <a:ext uri="{FF2B5EF4-FFF2-40B4-BE49-F238E27FC236}">
                <a16:creationId xmlns:a16="http://schemas.microsoft.com/office/drawing/2014/main" id="{5351DA5C-C6DA-4F34-B7EB-08C8B0F32605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D34D50-3F68-4055-B63E-EC0D7D7D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19200" y="1444752"/>
            <a:ext cx="5839499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238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56">
            <a:extLst>
              <a:ext uri="{FF2B5EF4-FFF2-40B4-BE49-F238E27FC236}">
                <a16:creationId xmlns:a16="http://schemas.microsoft.com/office/drawing/2014/main" id="{5EB01EFF-0092-4F6E-B468-D34C6D809E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57">
            <a:extLst>
              <a:ext uri="{FF2B5EF4-FFF2-40B4-BE49-F238E27FC236}">
                <a16:creationId xmlns:a16="http://schemas.microsoft.com/office/drawing/2014/main" id="{967F73C3-7A57-4154-9073-4223AD68974C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58">
            <a:extLst>
              <a:ext uri="{FF2B5EF4-FFF2-40B4-BE49-F238E27FC236}">
                <a16:creationId xmlns:a16="http://schemas.microsoft.com/office/drawing/2014/main" id="{1D18642C-5E31-424B-8F29-8A75AD7AD6BA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59">
            <a:extLst>
              <a:ext uri="{FF2B5EF4-FFF2-40B4-BE49-F238E27FC236}">
                <a16:creationId xmlns:a16="http://schemas.microsoft.com/office/drawing/2014/main" id="{0E9FF6FA-9B8E-432A-830F-FB8A8E47D3DD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36</a:t>
            </a:r>
          </a:p>
        </p:txBody>
      </p:sp>
      <p:sp>
        <p:nvSpPr>
          <p:cNvPr id="5" name="native-460">
            <a:extLst>
              <a:ext uri="{FF2B5EF4-FFF2-40B4-BE49-F238E27FC236}">
                <a16:creationId xmlns:a16="http://schemas.microsoft.com/office/drawing/2014/main" id="{C29AAD4C-4548-4D70-83EB-810094C08F82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BF-02 — MEETING PREPARATION &amp; APPROVAL</a:t>
            </a:r>
          </a:p>
        </p:txBody>
      </p:sp>
      <p:sp>
        <p:nvSpPr>
          <p:cNvPr id="6" name="native-461">
            <a:extLst>
              <a:ext uri="{FF2B5EF4-FFF2-40B4-BE49-F238E27FC236}">
                <a16:creationId xmlns:a16="http://schemas.microsoft.com/office/drawing/2014/main" id="{3DEEB72B-70E3-46B6-9060-DD780FAB50D4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62">
            <a:extLst>
              <a:ext uri="{FF2B5EF4-FFF2-40B4-BE49-F238E27FC236}">
                <a16:creationId xmlns:a16="http://schemas.microsoft.com/office/drawing/2014/main" id="{AF0F767F-A840-4EC9-A0A1-57E7E2206D21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13858F-486F-4FE5-9625-3FE8433F9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41945" y="1444752"/>
            <a:ext cx="5194010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72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63">
            <a:extLst>
              <a:ext uri="{FF2B5EF4-FFF2-40B4-BE49-F238E27FC236}">
                <a16:creationId xmlns:a16="http://schemas.microsoft.com/office/drawing/2014/main" id="{FB957BCA-30C3-485F-956A-C5C8679D8A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64">
            <a:extLst>
              <a:ext uri="{FF2B5EF4-FFF2-40B4-BE49-F238E27FC236}">
                <a16:creationId xmlns:a16="http://schemas.microsoft.com/office/drawing/2014/main" id="{33B1AF2F-3B89-4551-90AC-2902FF180D99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65">
            <a:extLst>
              <a:ext uri="{FF2B5EF4-FFF2-40B4-BE49-F238E27FC236}">
                <a16:creationId xmlns:a16="http://schemas.microsoft.com/office/drawing/2014/main" id="{40DE9C9D-EAC9-478B-B8D0-E913BCC48B35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66">
            <a:extLst>
              <a:ext uri="{FF2B5EF4-FFF2-40B4-BE49-F238E27FC236}">
                <a16:creationId xmlns:a16="http://schemas.microsoft.com/office/drawing/2014/main" id="{AB3BFCE2-001B-4553-BA4B-D966377335BA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37</a:t>
            </a:r>
          </a:p>
        </p:txBody>
      </p:sp>
      <p:sp>
        <p:nvSpPr>
          <p:cNvPr id="5" name="native-467">
            <a:extLst>
              <a:ext uri="{FF2B5EF4-FFF2-40B4-BE49-F238E27FC236}">
                <a16:creationId xmlns:a16="http://schemas.microsoft.com/office/drawing/2014/main" id="{EF65B755-E40A-409F-B5DF-9A5E36FA1957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BF-03 — MEETING EXECUTION &amp; DECISION MAKING</a:t>
            </a:r>
          </a:p>
        </p:txBody>
      </p:sp>
      <p:sp>
        <p:nvSpPr>
          <p:cNvPr id="6" name="native-468">
            <a:extLst>
              <a:ext uri="{FF2B5EF4-FFF2-40B4-BE49-F238E27FC236}">
                <a16:creationId xmlns:a16="http://schemas.microsoft.com/office/drawing/2014/main" id="{D4EBBD74-9D7D-4FEC-8745-705FDC9B8FF7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69">
            <a:extLst>
              <a:ext uri="{FF2B5EF4-FFF2-40B4-BE49-F238E27FC236}">
                <a16:creationId xmlns:a16="http://schemas.microsoft.com/office/drawing/2014/main" id="{947BD95D-24B6-40F6-82C0-870C5464F696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CB7502-0EEB-4359-9E72-200210B78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03733" y="1444752"/>
            <a:ext cx="5070433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233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70">
            <a:extLst>
              <a:ext uri="{FF2B5EF4-FFF2-40B4-BE49-F238E27FC236}">
                <a16:creationId xmlns:a16="http://schemas.microsoft.com/office/drawing/2014/main" id="{6CCA1EFD-ECEB-481D-BE9B-B929089AE1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71">
            <a:extLst>
              <a:ext uri="{FF2B5EF4-FFF2-40B4-BE49-F238E27FC236}">
                <a16:creationId xmlns:a16="http://schemas.microsoft.com/office/drawing/2014/main" id="{F7D50814-CF8B-495E-ACED-141A9CCCCFB8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72">
            <a:extLst>
              <a:ext uri="{FF2B5EF4-FFF2-40B4-BE49-F238E27FC236}">
                <a16:creationId xmlns:a16="http://schemas.microsoft.com/office/drawing/2014/main" id="{0059F1BD-2E79-4600-BA7D-107066CF5C24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73">
            <a:extLst>
              <a:ext uri="{FF2B5EF4-FFF2-40B4-BE49-F238E27FC236}">
                <a16:creationId xmlns:a16="http://schemas.microsoft.com/office/drawing/2014/main" id="{DCE46308-2298-43C5-9607-4656E398BD02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38</a:t>
            </a:r>
          </a:p>
        </p:txBody>
      </p:sp>
      <p:sp>
        <p:nvSpPr>
          <p:cNvPr id="5" name="native-474">
            <a:extLst>
              <a:ext uri="{FF2B5EF4-FFF2-40B4-BE49-F238E27FC236}">
                <a16:creationId xmlns:a16="http://schemas.microsoft.com/office/drawing/2014/main" id="{771CA028-C412-4D72-8499-5F6CCC5A9E1C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BF-04 — POST-MEETING PROCESSING &amp; RECORDS</a:t>
            </a:r>
          </a:p>
        </p:txBody>
      </p:sp>
      <p:sp>
        <p:nvSpPr>
          <p:cNvPr id="6" name="native-475">
            <a:extLst>
              <a:ext uri="{FF2B5EF4-FFF2-40B4-BE49-F238E27FC236}">
                <a16:creationId xmlns:a16="http://schemas.microsoft.com/office/drawing/2014/main" id="{EC47C947-FB6D-4415-87ED-92E7F2ED524C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76">
            <a:extLst>
              <a:ext uri="{FF2B5EF4-FFF2-40B4-BE49-F238E27FC236}">
                <a16:creationId xmlns:a16="http://schemas.microsoft.com/office/drawing/2014/main" id="{E7E3D572-A2A8-44D3-BF49-F5511E76382F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87E1CD-6C04-4B8B-B5E2-A4D426669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45124" y="1444752"/>
            <a:ext cx="3987651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36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77">
            <a:extLst>
              <a:ext uri="{FF2B5EF4-FFF2-40B4-BE49-F238E27FC236}">
                <a16:creationId xmlns:a16="http://schemas.microsoft.com/office/drawing/2014/main" id="{8CE29AE1-83D2-45A6-B03A-6F74936B80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78">
            <a:extLst>
              <a:ext uri="{FF2B5EF4-FFF2-40B4-BE49-F238E27FC236}">
                <a16:creationId xmlns:a16="http://schemas.microsoft.com/office/drawing/2014/main" id="{ECDFDEE2-F7AF-4C43-A598-455F33F48C1E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79">
            <a:extLst>
              <a:ext uri="{FF2B5EF4-FFF2-40B4-BE49-F238E27FC236}">
                <a16:creationId xmlns:a16="http://schemas.microsoft.com/office/drawing/2014/main" id="{550CE60C-D95A-4893-BCCA-678508A4CE58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80">
            <a:extLst>
              <a:ext uri="{FF2B5EF4-FFF2-40B4-BE49-F238E27FC236}">
                <a16:creationId xmlns:a16="http://schemas.microsoft.com/office/drawing/2014/main" id="{E6481AB8-4C53-4022-BA9B-210FC975356C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39</a:t>
            </a:r>
          </a:p>
        </p:txBody>
      </p:sp>
      <p:sp>
        <p:nvSpPr>
          <p:cNvPr id="5" name="native-481">
            <a:extLst>
              <a:ext uri="{FF2B5EF4-FFF2-40B4-BE49-F238E27FC236}">
                <a16:creationId xmlns:a16="http://schemas.microsoft.com/office/drawing/2014/main" id="{79E1754C-B8F7-4178-B382-59413C024672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STATE MACHINE — MEETING</a:t>
            </a:r>
          </a:p>
        </p:txBody>
      </p:sp>
      <p:sp>
        <p:nvSpPr>
          <p:cNvPr id="6" name="native-482">
            <a:extLst>
              <a:ext uri="{FF2B5EF4-FFF2-40B4-BE49-F238E27FC236}">
                <a16:creationId xmlns:a16="http://schemas.microsoft.com/office/drawing/2014/main" id="{B5F20214-5717-4E7D-8B5B-227B1676E621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83">
            <a:extLst>
              <a:ext uri="{FF2B5EF4-FFF2-40B4-BE49-F238E27FC236}">
                <a16:creationId xmlns:a16="http://schemas.microsoft.com/office/drawing/2014/main" id="{7B978B7E-62D2-475D-9D8D-EBB77C812DDC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394A11-092B-4F63-BA49-FC5884AA2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92760" y="1444752"/>
            <a:ext cx="5292379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59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84">
            <a:extLst>
              <a:ext uri="{FF2B5EF4-FFF2-40B4-BE49-F238E27FC236}">
                <a16:creationId xmlns:a16="http://schemas.microsoft.com/office/drawing/2014/main" id="{FD79328D-D977-4D84-8B85-45E3BBC258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85">
            <a:extLst>
              <a:ext uri="{FF2B5EF4-FFF2-40B4-BE49-F238E27FC236}">
                <a16:creationId xmlns:a16="http://schemas.microsoft.com/office/drawing/2014/main" id="{FB64F0FE-AF3A-4401-B81B-292F7A0673EA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86">
            <a:extLst>
              <a:ext uri="{FF2B5EF4-FFF2-40B4-BE49-F238E27FC236}">
                <a16:creationId xmlns:a16="http://schemas.microsoft.com/office/drawing/2014/main" id="{804486BF-8A84-43ED-BD9E-355933C7CCAE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87">
            <a:extLst>
              <a:ext uri="{FF2B5EF4-FFF2-40B4-BE49-F238E27FC236}">
                <a16:creationId xmlns:a16="http://schemas.microsoft.com/office/drawing/2014/main" id="{D75D73CF-78F2-4262-9E8D-7A023D427BE1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40</a:t>
            </a:r>
          </a:p>
        </p:txBody>
      </p:sp>
      <p:sp>
        <p:nvSpPr>
          <p:cNvPr id="5" name="native-488">
            <a:extLst>
              <a:ext uri="{FF2B5EF4-FFF2-40B4-BE49-F238E27FC236}">
                <a16:creationId xmlns:a16="http://schemas.microsoft.com/office/drawing/2014/main" id="{4FFCDD73-DB70-432C-8CBB-F78FC575140E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STATE MACHINE — AGENDA ITEM</a:t>
            </a:r>
          </a:p>
        </p:txBody>
      </p:sp>
      <p:sp>
        <p:nvSpPr>
          <p:cNvPr id="6" name="native-489">
            <a:extLst>
              <a:ext uri="{FF2B5EF4-FFF2-40B4-BE49-F238E27FC236}">
                <a16:creationId xmlns:a16="http://schemas.microsoft.com/office/drawing/2014/main" id="{75F03D6B-C9A9-46AB-9A90-D7485320B8E1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90">
            <a:extLst>
              <a:ext uri="{FF2B5EF4-FFF2-40B4-BE49-F238E27FC236}">
                <a16:creationId xmlns:a16="http://schemas.microsoft.com/office/drawing/2014/main" id="{B3922559-4722-47AB-AD41-4D99B7B2F249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802BA4-73D0-481B-B4AC-73239D2EE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6470" y="1444752"/>
            <a:ext cx="9204960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288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91">
            <a:extLst>
              <a:ext uri="{FF2B5EF4-FFF2-40B4-BE49-F238E27FC236}">
                <a16:creationId xmlns:a16="http://schemas.microsoft.com/office/drawing/2014/main" id="{25F02E62-28F9-454A-B3FF-D7E238D46D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92">
            <a:extLst>
              <a:ext uri="{FF2B5EF4-FFF2-40B4-BE49-F238E27FC236}">
                <a16:creationId xmlns:a16="http://schemas.microsoft.com/office/drawing/2014/main" id="{D0EF5697-9B02-46BD-82B8-E5BF261047CF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493">
            <a:extLst>
              <a:ext uri="{FF2B5EF4-FFF2-40B4-BE49-F238E27FC236}">
                <a16:creationId xmlns:a16="http://schemas.microsoft.com/office/drawing/2014/main" id="{5C8C50FC-D640-4BAD-B7BE-6DBA1DBB94ED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494">
            <a:extLst>
              <a:ext uri="{FF2B5EF4-FFF2-40B4-BE49-F238E27FC236}">
                <a16:creationId xmlns:a16="http://schemas.microsoft.com/office/drawing/2014/main" id="{8643F93B-5144-4FD4-9058-A2F2DCE4E6A3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41</a:t>
            </a:r>
          </a:p>
        </p:txBody>
      </p:sp>
      <p:sp>
        <p:nvSpPr>
          <p:cNvPr id="5" name="native-495">
            <a:extLst>
              <a:ext uri="{FF2B5EF4-FFF2-40B4-BE49-F238E27FC236}">
                <a16:creationId xmlns:a16="http://schemas.microsoft.com/office/drawing/2014/main" id="{0498DDFF-5133-4BCA-B26A-C629F2EB8072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STATE MACHINE — MINUTES REVISION</a:t>
            </a:r>
          </a:p>
        </p:txBody>
      </p:sp>
      <p:sp>
        <p:nvSpPr>
          <p:cNvPr id="6" name="native-496">
            <a:extLst>
              <a:ext uri="{FF2B5EF4-FFF2-40B4-BE49-F238E27FC236}">
                <a16:creationId xmlns:a16="http://schemas.microsoft.com/office/drawing/2014/main" id="{DCCD3CCB-A44F-48C3-A7B3-0123AB20DC4A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497">
            <a:extLst>
              <a:ext uri="{FF2B5EF4-FFF2-40B4-BE49-F238E27FC236}">
                <a16:creationId xmlns:a16="http://schemas.microsoft.com/office/drawing/2014/main" id="{664E05F9-E153-4628-9D2A-CC815FB2AFCC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669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B65C40-D9B6-4D10-A93B-7844FB091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54722" y="1444752"/>
            <a:ext cx="6568455" cy="55229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58E749-BCC7-3894-5B7B-4E9A1183F7AD}"/>
              </a:ext>
            </a:extLst>
          </p:cNvPr>
          <p:cNvSpPr/>
          <p:nvPr/>
        </p:nvSpPr>
        <p:spPr>
          <a:xfrm>
            <a:off x="3554722" y="1444752"/>
            <a:ext cx="6568455" cy="260350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4156F-4202-DE15-612A-C9DBCA951AEF}"/>
              </a:ext>
            </a:extLst>
          </p:cNvPr>
          <p:cNvSpPr txBox="1"/>
          <p:nvPr/>
        </p:nvSpPr>
        <p:spPr>
          <a:xfrm>
            <a:off x="3554722" y="1504963"/>
            <a:ext cx="6568455" cy="169277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sz="1100" b="1">
                <a:solidFill>
                  <a:srgbClr val="000000"/>
                </a:solidFill>
                <a:latin typeface="Arial" panose="020B0604020202020204" pitchFamily="34" charset="0"/>
              </a:rPr>
              <a:t>Minutes Revision State Machine</a:t>
            </a:r>
          </a:p>
        </p:txBody>
      </p:sp>
    </p:spTree>
    <p:extLst>
      <p:ext uri="{BB962C8B-B14F-4D97-AF65-F5344CB8AC3E}">
        <p14:creationId xmlns:p14="http://schemas.microsoft.com/office/powerpoint/2010/main" val="19312210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tive-498">
            <a:extLst>
              <a:ext uri="{FF2B5EF4-FFF2-40B4-BE49-F238E27FC236}">
                <a16:creationId xmlns:a16="http://schemas.microsoft.com/office/drawing/2014/main" id="{FDE62C10-25EF-4D4C-8A18-0E153E97C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499">
            <a:extLst>
              <a:ext uri="{FF2B5EF4-FFF2-40B4-BE49-F238E27FC236}">
                <a16:creationId xmlns:a16="http://schemas.microsoft.com/office/drawing/2014/main" id="{6E19E782-34E5-44A6-A63A-2C4A88E0E584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500">
            <a:extLst>
              <a:ext uri="{FF2B5EF4-FFF2-40B4-BE49-F238E27FC236}">
                <a16:creationId xmlns:a16="http://schemas.microsoft.com/office/drawing/2014/main" id="{BF05EE73-7999-494B-A898-CF419B699F52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501">
            <a:extLst>
              <a:ext uri="{FF2B5EF4-FFF2-40B4-BE49-F238E27FC236}">
                <a16:creationId xmlns:a16="http://schemas.microsoft.com/office/drawing/2014/main" id="{CEE24FD0-7175-45B8-9436-52B7C772B905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42</a:t>
            </a:r>
          </a:p>
        </p:txBody>
      </p:sp>
      <p:sp>
        <p:nvSpPr>
          <p:cNvPr id="5" name="native-502">
            <a:extLst>
              <a:ext uri="{FF2B5EF4-FFF2-40B4-BE49-F238E27FC236}">
                <a16:creationId xmlns:a16="http://schemas.microsoft.com/office/drawing/2014/main" id="{298AFF76-37E2-4C88-9FC5-CF9C11791A6E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ERD — TARGET CONCEPTUAL / LOGICAL MODEL</a:t>
            </a:r>
          </a:p>
        </p:txBody>
      </p:sp>
      <p:sp>
        <p:nvSpPr>
          <p:cNvPr id="6" name="native-503">
            <a:extLst>
              <a:ext uri="{FF2B5EF4-FFF2-40B4-BE49-F238E27FC236}">
                <a16:creationId xmlns:a16="http://schemas.microsoft.com/office/drawing/2014/main" id="{6354CB2A-0FC6-4E80-A2D6-0410B3BDA98F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504">
            <a:extLst>
              <a:ext uri="{FF2B5EF4-FFF2-40B4-BE49-F238E27FC236}">
                <a16:creationId xmlns:a16="http://schemas.microsoft.com/office/drawing/2014/main" id="{3B825415-30D4-4A71-AB20-BC1D9AD3CA5C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1238250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363C73-5211-4513-9E14-EB474CE7E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71460" y="1444752"/>
            <a:ext cx="8334980" cy="524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99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native-505">
            <a:extLst>
              <a:ext uri="{FF2B5EF4-FFF2-40B4-BE49-F238E27FC236}">
                <a16:creationId xmlns:a16="http://schemas.microsoft.com/office/drawing/2014/main" id="{0136DDB3-31F1-4FE0-8120-53437692F7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" cy="571500"/>
          </a:xfrm>
          <a:prstGeom prst="rtTriangle">
            <a:avLst/>
          </a:prstGeom>
          <a:solidFill>
            <a:srgbClr val="2A4D9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native-506">
            <a:extLst>
              <a:ext uri="{FF2B5EF4-FFF2-40B4-BE49-F238E27FC236}">
                <a16:creationId xmlns:a16="http://schemas.microsoft.com/office/drawing/2014/main" id="{AAB6B7E2-1458-43B5-85F9-CB6A1E6AD74B}"/>
              </a:ext>
            </a:extLst>
          </p:cNvPr>
          <p:cNvSpPr>
            <a:spLocks noGrp="1"/>
          </p:cNvSpPr>
          <p:nvPr/>
        </p:nvSpPr>
        <p:spPr>
          <a:xfrm rot="10800000">
            <a:off x="0" y="571500"/>
            <a:ext cx="933450" cy="9334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ative-507">
            <a:extLst>
              <a:ext uri="{FF2B5EF4-FFF2-40B4-BE49-F238E27FC236}">
                <a16:creationId xmlns:a16="http://schemas.microsoft.com/office/drawing/2014/main" id="{CAD29B98-B63C-44A2-A232-BE9C9C81C643}"/>
              </a:ext>
            </a:extLst>
          </p:cNvPr>
          <p:cNvSpPr>
            <a:spLocks noGrp="1"/>
          </p:cNvSpPr>
          <p:nvPr/>
        </p:nvSpPr>
        <p:spPr>
          <a:xfrm rot="10800000">
            <a:off x="12668250" y="5981700"/>
            <a:ext cx="1047750" cy="1733550"/>
          </a:xfrm>
          <a:prstGeom prst="rtTriangle">
            <a:avLst/>
          </a:prstGeom>
          <a:solidFill>
            <a:srgbClr val="E8F0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ative-508">
            <a:extLst>
              <a:ext uri="{FF2B5EF4-FFF2-40B4-BE49-F238E27FC236}">
                <a16:creationId xmlns:a16="http://schemas.microsoft.com/office/drawing/2014/main" id="{E6E8753A-8588-4F87-A54B-D2083A57CBB5}"/>
              </a:ext>
            </a:extLst>
          </p:cNvPr>
          <p:cNvSpPr>
            <a:spLocks noGrp="1"/>
          </p:cNvSpPr>
          <p:nvPr/>
        </p:nvSpPr>
        <p:spPr>
          <a:xfrm>
            <a:off x="12573000" y="7286625"/>
            <a:ext cx="876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Page 43</a:t>
            </a:r>
          </a:p>
        </p:txBody>
      </p:sp>
      <p:sp>
        <p:nvSpPr>
          <p:cNvPr id="5" name="native-509">
            <a:extLst>
              <a:ext uri="{FF2B5EF4-FFF2-40B4-BE49-F238E27FC236}">
                <a16:creationId xmlns:a16="http://schemas.microsoft.com/office/drawing/2014/main" id="{7CB7061C-AD90-4B65-B9E5-A60021EB3CCF}"/>
              </a:ext>
            </a:extLst>
          </p:cNvPr>
          <p:cNvSpPr>
            <a:spLocks noGrp="1"/>
          </p:cNvSpPr>
          <p:nvPr/>
        </p:nvSpPr>
        <p:spPr>
          <a:xfrm>
            <a:off x="647700" y="514350"/>
            <a:ext cx="1238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NON-FUNCTIONAL </a:t>
            </a:r>
            <a:r>
              <a:rPr sz="3450" b="1">
                <a:solidFill>
                  <a:srgbClr val="2A4D94"/>
                </a:solidFill>
                <a:latin typeface="Arial"/>
                <a:ea typeface="Arial"/>
                <a:cs typeface="Arial"/>
              </a:rPr>
              <a:t>REQUIREMENTS</a:t>
            </a:r>
          </a:p>
        </p:txBody>
      </p:sp>
      <p:sp>
        <p:nvSpPr>
          <p:cNvPr id="6" name="native-510">
            <a:extLst>
              <a:ext uri="{FF2B5EF4-FFF2-40B4-BE49-F238E27FC236}">
                <a16:creationId xmlns:a16="http://schemas.microsoft.com/office/drawing/2014/main" id="{9A73C1ED-8632-47A5-9650-128DC5AE508C}"/>
              </a:ext>
            </a:extLst>
          </p:cNvPr>
          <p:cNvSpPr>
            <a:spLocks noGrp="1"/>
          </p:cNvSpPr>
          <p:nvPr/>
        </p:nvSpPr>
        <p:spPr>
          <a:xfrm>
            <a:off x="647700" y="1247775"/>
            <a:ext cx="12382500" cy="0"/>
          </a:xfrm>
          <a:prstGeom prst="line">
            <a:avLst/>
          </a:prstGeom>
          <a:noFill/>
          <a:ln w="14288">
            <a:solidFill>
              <a:srgbClr val="1A24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native-511">
            <a:extLst>
              <a:ext uri="{FF2B5EF4-FFF2-40B4-BE49-F238E27FC236}">
                <a16:creationId xmlns:a16="http://schemas.microsoft.com/office/drawing/2014/main" id="{ABDC6499-EC91-45E1-9042-34AAEFCBA690}"/>
              </a:ext>
            </a:extLst>
          </p:cNvPr>
          <p:cNvSpPr>
            <a:spLocks noGrp="1"/>
          </p:cNvSpPr>
          <p:nvPr/>
        </p:nvSpPr>
        <p:spPr>
          <a:xfrm>
            <a:off x="904875" y="2076450"/>
            <a:ext cx="704850" cy="628650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native-512">
            <a:extLst>
              <a:ext uri="{FF2B5EF4-FFF2-40B4-BE49-F238E27FC236}">
                <a16:creationId xmlns:a16="http://schemas.microsoft.com/office/drawing/2014/main" id="{DF7A8351-D443-48AB-BF1D-87E15E0EEC5F}"/>
              </a:ext>
            </a:extLst>
          </p:cNvPr>
          <p:cNvSpPr>
            <a:spLocks noGrp="1"/>
          </p:cNvSpPr>
          <p:nvPr/>
        </p:nvSpPr>
        <p:spPr>
          <a:xfrm>
            <a:off x="1819275" y="2076450"/>
            <a:ext cx="523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External Interfaces &amp; Reliability</a:t>
            </a:r>
          </a:p>
        </p:txBody>
      </p:sp>
      <p:sp>
        <p:nvSpPr>
          <p:cNvPr id="9" name="native-513">
            <a:extLst>
              <a:ext uri="{FF2B5EF4-FFF2-40B4-BE49-F238E27FC236}">
                <a16:creationId xmlns:a16="http://schemas.microsoft.com/office/drawing/2014/main" id="{BE5A27B3-99F2-4CC5-BE66-854AF3889710}"/>
              </a:ext>
            </a:extLst>
          </p:cNvPr>
          <p:cNvSpPr>
            <a:spLocks noGrp="1"/>
          </p:cNvSpPr>
          <p:nvPr/>
        </p:nvSpPr>
        <p:spPr>
          <a:xfrm>
            <a:off x="1819275" y="285750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native-514">
            <a:extLst>
              <a:ext uri="{FF2B5EF4-FFF2-40B4-BE49-F238E27FC236}">
                <a16:creationId xmlns:a16="http://schemas.microsoft.com/office/drawing/2014/main" id="{BDCB869B-4340-4983-A254-D7FA815BCE2F}"/>
              </a:ext>
            </a:extLst>
          </p:cNvPr>
          <p:cNvSpPr>
            <a:spLocks noGrp="1"/>
          </p:cNvSpPr>
          <p:nvPr/>
        </p:nvSpPr>
        <p:spPr>
          <a:xfrm>
            <a:off x="2105025" y="2857500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Optional Google sign-in with password fallback</a:t>
            </a:r>
          </a:p>
        </p:txBody>
      </p:sp>
      <p:sp>
        <p:nvSpPr>
          <p:cNvPr id="11" name="native-515">
            <a:extLst>
              <a:ext uri="{FF2B5EF4-FFF2-40B4-BE49-F238E27FC236}">
                <a16:creationId xmlns:a16="http://schemas.microsoft.com/office/drawing/2014/main" id="{7F9B892E-3991-43C7-B2EA-3ABC2FF19465}"/>
              </a:ext>
            </a:extLst>
          </p:cNvPr>
          <p:cNvSpPr>
            <a:spLocks noGrp="1"/>
          </p:cNvSpPr>
          <p:nvPr/>
        </p:nvSpPr>
        <p:spPr>
          <a:xfrm>
            <a:off x="1819275" y="3256598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native-516">
            <a:extLst>
              <a:ext uri="{FF2B5EF4-FFF2-40B4-BE49-F238E27FC236}">
                <a16:creationId xmlns:a16="http://schemas.microsoft.com/office/drawing/2014/main" id="{FD747F65-DF80-4AB4-A488-07F74701DC68}"/>
              </a:ext>
            </a:extLst>
          </p:cNvPr>
          <p:cNvSpPr>
            <a:spLocks noGrp="1"/>
          </p:cNvSpPr>
          <p:nvPr/>
        </p:nvSpPr>
        <p:spPr>
          <a:xfrm>
            <a:off x="2105025" y="3256598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SMTP notifications and queued retries</a:t>
            </a:r>
          </a:p>
        </p:txBody>
      </p:sp>
      <p:sp>
        <p:nvSpPr>
          <p:cNvPr id="13" name="native-517">
            <a:extLst>
              <a:ext uri="{FF2B5EF4-FFF2-40B4-BE49-F238E27FC236}">
                <a16:creationId xmlns:a16="http://schemas.microsoft.com/office/drawing/2014/main" id="{1CDD8765-6D09-4C22-983F-E9D9A1CC808C}"/>
              </a:ext>
            </a:extLst>
          </p:cNvPr>
          <p:cNvSpPr>
            <a:spLocks noGrp="1"/>
          </p:cNvSpPr>
          <p:nvPr/>
        </p:nvSpPr>
        <p:spPr>
          <a:xfrm>
            <a:off x="1819275" y="3655695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native-518">
            <a:extLst>
              <a:ext uri="{FF2B5EF4-FFF2-40B4-BE49-F238E27FC236}">
                <a16:creationId xmlns:a16="http://schemas.microsoft.com/office/drawing/2014/main" id="{757C869E-740D-4AC5-A7C1-F8DC4A15AA7A}"/>
              </a:ext>
            </a:extLst>
          </p:cNvPr>
          <p:cNvSpPr>
            <a:spLocks noGrp="1"/>
          </p:cNvSpPr>
          <p:nvPr/>
        </p:nvSpPr>
        <p:spPr>
          <a:xfrm>
            <a:off x="2105025" y="3655695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Planned media server and replaceable AI provider</a:t>
            </a:r>
          </a:p>
        </p:txBody>
      </p:sp>
      <p:sp>
        <p:nvSpPr>
          <p:cNvPr id="15" name="native-519">
            <a:extLst>
              <a:ext uri="{FF2B5EF4-FFF2-40B4-BE49-F238E27FC236}">
                <a16:creationId xmlns:a16="http://schemas.microsoft.com/office/drawing/2014/main" id="{E0D5078E-AC7E-4F6E-9252-087E33EEA76C}"/>
              </a:ext>
            </a:extLst>
          </p:cNvPr>
          <p:cNvSpPr>
            <a:spLocks noGrp="1"/>
          </p:cNvSpPr>
          <p:nvPr/>
        </p:nvSpPr>
        <p:spPr>
          <a:xfrm>
            <a:off x="7381875" y="2076450"/>
            <a:ext cx="704850" cy="628650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native-520">
            <a:extLst>
              <a:ext uri="{FF2B5EF4-FFF2-40B4-BE49-F238E27FC236}">
                <a16:creationId xmlns:a16="http://schemas.microsoft.com/office/drawing/2014/main" id="{E1ECEFF0-C5BB-4C71-B834-C78585FAD752}"/>
              </a:ext>
            </a:extLst>
          </p:cNvPr>
          <p:cNvSpPr>
            <a:spLocks noGrp="1"/>
          </p:cNvSpPr>
          <p:nvPr/>
        </p:nvSpPr>
        <p:spPr>
          <a:xfrm>
            <a:off x="8296275" y="2076450"/>
            <a:ext cx="523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Usability &amp; User Experience</a:t>
            </a:r>
          </a:p>
        </p:txBody>
      </p:sp>
      <p:sp>
        <p:nvSpPr>
          <p:cNvPr id="17" name="native-521">
            <a:extLst>
              <a:ext uri="{FF2B5EF4-FFF2-40B4-BE49-F238E27FC236}">
                <a16:creationId xmlns:a16="http://schemas.microsoft.com/office/drawing/2014/main" id="{24861838-D361-4628-851E-000AC76CB7A4}"/>
              </a:ext>
            </a:extLst>
          </p:cNvPr>
          <p:cNvSpPr>
            <a:spLocks noGrp="1"/>
          </p:cNvSpPr>
          <p:nvPr/>
        </p:nvSpPr>
        <p:spPr>
          <a:xfrm>
            <a:off x="8296275" y="285750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native-522">
            <a:extLst>
              <a:ext uri="{FF2B5EF4-FFF2-40B4-BE49-F238E27FC236}">
                <a16:creationId xmlns:a16="http://schemas.microsoft.com/office/drawing/2014/main" id="{17CC6524-143F-40C0-8319-FB63EA5D549B}"/>
              </a:ext>
            </a:extLst>
          </p:cNvPr>
          <p:cNvSpPr>
            <a:spLocks noGrp="1"/>
          </p:cNvSpPr>
          <p:nvPr/>
        </p:nvSpPr>
        <p:spPr>
          <a:xfrm>
            <a:off x="8582025" y="2857500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Vietnamese UI with consistent terminology</a:t>
            </a:r>
          </a:p>
        </p:txBody>
      </p:sp>
      <p:sp>
        <p:nvSpPr>
          <p:cNvPr id="19" name="native-523">
            <a:extLst>
              <a:ext uri="{FF2B5EF4-FFF2-40B4-BE49-F238E27FC236}">
                <a16:creationId xmlns:a16="http://schemas.microsoft.com/office/drawing/2014/main" id="{69205496-629D-419F-9EC0-5CE0E82566E4}"/>
              </a:ext>
            </a:extLst>
          </p:cNvPr>
          <p:cNvSpPr>
            <a:spLocks noGrp="1"/>
          </p:cNvSpPr>
          <p:nvPr/>
        </p:nvSpPr>
        <p:spPr>
          <a:xfrm>
            <a:off x="8296275" y="3256598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native-524">
            <a:extLst>
              <a:ext uri="{FF2B5EF4-FFF2-40B4-BE49-F238E27FC236}">
                <a16:creationId xmlns:a16="http://schemas.microsoft.com/office/drawing/2014/main" id="{41D5C06B-452E-4C22-9DD9-73EB42E20F06}"/>
              </a:ext>
            </a:extLst>
          </p:cNvPr>
          <p:cNvSpPr>
            <a:spLocks noGrp="1"/>
          </p:cNvSpPr>
          <p:nvPr/>
        </p:nvSpPr>
        <p:spPr>
          <a:xfrm>
            <a:off x="8582025" y="3256598"/>
            <a:ext cx="488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Desktop-first, with specified mobile-capable flows</a:t>
            </a:r>
          </a:p>
        </p:txBody>
      </p:sp>
      <p:sp>
        <p:nvSpPr>
          <p:cNvPr id="21" name="native-525">
            <a:extLst>
              <a:ext uri="{FF2B5EF4-FFF2-40B4-BE49-F238E27FC236}">
                <a16:creationId xmlns:a16="http://schemas.microsoft.com/office/drawing/2014/main" id="{A8973090-7019-4872-94DA-8C07699FA820}"/>
              </a:ext>
            </a:extLst>
          </p:cNvPr>
          <p:cNvSpPr>
            <a:spLocks noGrp="1"/>
          </p:cNvSpPr>
          <p:nvPr/>
        </p:nvSpPr>
        <p:spPr>
          <a:xfrm>
            <a:off x="8296275" y="3673317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native-526">
            <a:extLst>
              <a:ext uri="{FF2B5EF4-FFF2-40B4-BE49-F238E27FC236}">
                <a16:creationId xmlns:a16="http://schemas.microsoft.com/office/drawing/2014/main" id="{25AA98D8-D5BB-49D5-8119-C80C1A6C9C00}"/>
              </a:ext>
            </a:extLst>
          </p:cNvPr>
          <p:cNvSpPr>
            <a:spLocks noGrp="1"/>
          </p:cNvSpPr>
          <p:nvPr/>
        </p:nvSpPr>
        <p:spPr>
          <a:xfrm>
            <a:off x="8582025" y="3669506"/>
            <a:ext cx="48863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Keyboard access, visible focus and 4.5:1 text contrast</a:t>
            </a:r>
          </a:p>
        </p:txBody>
      </p:sp>
      <p:sp>
        <p:nvSpPr>
          <p:cNvPr id="23" name="native-527">
            <a:extLst>
              <a:ext uri="{FF2B5EF4-FFF2-40B4-BE49-F238E27FC236}">
                <a16:creationId xmlns:a16="http://schemas.microsoft.com/office/drawing/2014/main" id="{06BBD779-A1F3-4616-AD36-20DE1F666D05}"/>
              </a:ext>
            </a:extLst>
          </p:cNvPr>
          <p:cNvSpPr>
            <a:spLocks noGrp="1"/>
          </p:cNvSpPr>
          <p:nvPr/>
        </p:nvSpPr>
        <p:spPr>
          <a:xfrm>
            <a:off x="904875" y="4610100"/>
            <a:ext cx="704850" cy="628650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native-528">
            <a:extLst>
              <a:ext uri="{FF2B5EF4-FFF2-40B4-BE49-F238E27FC236}">
                <a16:creationId xmlns:a16="http://schemas.microsoft.com/office/drawing/2014/main" id="{EC91B060-87B9-46C5-9FBC-5C5A9F064C62}"/>
              </a:ext>
            </a:extLst>
          </p:cNvPr>
          <p:cNvSpPr>
            <a:spLocks noGrp="1"/>
          </p:cNvSpPr>
          <p:nvPr/>
        </p:nvSpPr>
        <p:spPr>
          <a:xfrm>
            <a:off x="1819275" y="4610100"/>
            <a:ext cx="523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Performance &amp; Capacity</a:t>
            </a:r>
          </a:p>
        </p:txBody>
      </p:sp>
      <p:sp>
        <p:nvSpPr>
          <p:cNvPr id="25" name="native-529">
            <a:extLst>
              <a:ext uri="{FF2B5EF4-FFF2-40B4-BE49-F238E27FC236}">
                <a16:creationId xmlns:a16="http://schemas.microsoft.com/office/drawing/2014/main" id="{8BFB920C-D058-4FB2-9E1C-F8FF9F147E6A}"/>
              </a:ext>
            </a:extLst>
          </p:cNvPr>
          <p:cNvSpPr>
            <a:spLocks noGrp="1"/>
          </p:cNvSpPr>
          <p:nvPr/>
        </p:nvSpPr>
        <p:spPr>
          <a:xfrm>
            <a:off x="1819275" y="539115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native-530">
            <a:extLst>
              <a:ext uri="{FF2B5EF4-FFF2-40B4-BE49-F238E27FC236}">
                <a16:creationId xmlns:a16="http://schemas.microsoft.com/office/drawing/2014/main" id="{B0462D51-DE84-43DD-A68D-484EDF0E606E}"/>
              </a:ext>
            </a:extLst>
          </p:cNvPr>
          <p:cNvSpPr>
            <a:spLocks noGrp="1"/>
          </p:cNvSpPr>
          <p:nvPr/>
        </p:nvSpPr>
        <p:spPr>
          <a:xfrm>
            <a:off x="2105025" y="5391150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Initial load ≤3 s; screen data ≤2 s p95</a:t>
            </a:r>
          </a:p>
        </p:txBody>
      </p:sp>
      <p:sp>
        <p:nvSpPr>
          <p:cNvPr id="27" name="native-531">
            <a:extLst>
              <a:ext uri="{FF2B5EF4-FFF2-40B4-BE49-F238E27FC236}">
                <a16:creationId xmlns:a16="http://schemas.microsoft.com/office/drawing/2014/main" id="{217B58C1-0E7A-41E6-945B-FE84F98D7ADA}"/>
              </a:ext>
            </a:extLst>
          </p:cNvPr>
          <p:cNvSpPr>
            <a:spLocks noGrp="1"/>
          </p:cNvSpPr>
          <p:nvPr/>
        </p:nvSpPr>
        <p:spPr>
          <a:xfrm>
            <a:off x="1819275" y="5790248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8" name="native-532">
            <a:extLst>
              <a:ext uri="{FF2B5EF4-FFF2-40B4-BE49-F238E27FC236}">
                <a16:creationId xmlns:a16="http://schemas.microsoft.com/office/drawing/2014/main" id="{E4D7AE8B-A995-4C76-B100-727EF1105E49}"/>
              </a:ext>
            </a:extLst>
          </p:cNvPr>
          <p:cNvSpPr>
            <a:spLocks noGrp="1"/>
          </p:cNvSpPr>
          <p:nvPr/>
        </p:nvSpPr>
        <p:spPr>
          <a:xfrm>
            <a:off x="2105025" y="5790248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A2433"/>
                </a:solidFill>
                <a:latin typeface="Arial"/>
                <a:ea typeface="Arial"/>
                <a:cs typeface="Arial"/>
              </a:rPr>
              <a:t>API ≤1 s p95 with up to 100 active users</a:t>
            </a:r>
          </a:p>
        </p:txBody>
      </p:sp>
      <p:sp>
        <p:nvSpPr>
          <p:cNvPr id="29" name="native-533">
            <a:extLst>
              <a:ext uri="{FF2B5EF4-FFF2-40B4-BE49-F238E27FC236}">
                <a16:creationId xmlns:a16="http://schemas.microsoft.com/office/drawing/2014/main" id="{DAFE7B41-E5AB-4D9D-9F40-A9947AC1D50F}"/>
              </a:ext>
            </a:extLst>
          </p:cNvPr>
          <p:cNvSpPr>
            <a:spLocks noGrp="1"/>
          </p:cNvSpPr>
          <p:nvPr/>
        </p:nvSpPr>
        <p:spPr>
          <a:xfrm>
            <a:off x="1819275" y="6189345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0" name="native-534">
            <a:extLst>
              <a:ext uri="{FF2B5EF4-FFF2-40B4-BE49-F238E27FC236}">
                <a16:creationId xmlns:a16="http://schemas.microsoft.com/office/drawing/2014/main" id="{1820B3E2-0719-4EFE-AEF5-353FC519F070}"/>
              </a:ext>
            </a:extLst>
          </p:cNvPr>
          <p:cNvSpPr>
            <a:spLocks noGrp="1"/>
          </p:cNvSpPr>
          <p:nvPr/>
        </p:nvSpPr>
        <p:spPr>
          <a:xfrm>
            <a:off x="2105025" y="6189345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200 signed-in users; room target 30, hard cap 50</a:t>
            </a:r>
          </a:p>
        </p:txBody>
      </p:sp>
      <p:sp>
        <p:nvSpPr>
          <p:cNvPr id="31" name="native-535">
            <a:extLst>
              <a:ext uri="{FF2B5EF4-FFF2-40B4-BE49-F238E27FC236}">
                <a16:creationId xmlns:a16="http://schemas.microsoft.com/office/drawing/2014/main" id="{CDFF364A-1F2C-4E24-A6CA-C61B35DB2EAD}"/>
              </a:ext>
            </a:extLst>
          </p:cNvPr>
          <p:cNvSpPr>
            <a:spLocks noGrp="1"/>
          </p:cNvSpPr>
          <p:nvPr/>
        </p:nvSpPr>
        <p:spPr>
          <a:xfrm>
            <a:off x="1819275" y="6588442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2" name="native-536">
            <a:extLst>
              <a:ext uri="{FF2B5EF4-FFF2-40B4-BE49-F238E27FC236}">
                <a16:creationId xmlns:a16="http://schemas.microsoft.com/office/drawing/2014/main" id="{4DD4B5A1-053B-4E32-B207-415E1B08705C}"/>
              </a:ext>
            </a:extLst>
          </p:cNvPr>
          <p:cNvSpPr>
            <a:spLocks noGrp="1"/>
          </p:cNvSpPr>
          <p:nvPr/>
        </p:nvSpPr>
        <p:spPr>
          <a:xfrm>
            <a:off x="2105025" y="6588442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Transcript ≤1.5× audio duration; summary ≤5 min</a:t>
            </a:r>
          </a:p>
        </p:txBody>
      </p:sp>
      <p:sp>
        <p:nvSpPr>
          <p:cNvPr id="33" name="native-537">
            <a:extLst>
              <a:ext uri="{FF2B5EF4-FFF2-40B4-BE49-F238E27FC236}">
                <a16:creationId xmlns:a16="http://schemas.microsoft.com/office/drawing/2014/main" id="{8521A5F7-9B4D-4F2F-A071-F13180925EB9}"/>
              </a:ext>
            </a:extLst>
          </p:cNvPr>
          <p:cNvSpPr>
            <a:spLocks noGrp="1"/>
          </p:cNvSpPr>
          <p:nvPr/>
        </p:nvSpPr>
        <p:spPr>
          <a:xfrm>
            <a:off x="7381875" y="4610100"/>
            <a:ext cx="704850" cy="628650"/>
          </a:xfrm>
          <a:prstGeom prst="ellipse">
            <a:avLst/>
          </a:prstGeom>
          <a:solidFill>
            <a:srgbClr val="2A4D94"/>
          </a:solidFill>
          <a:ln w="14288">
            <a:solidFill>
              <a:srgbClr val="2A4D94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native-538">
            <a:extLst>
              <a:ext uri="{FF2B5EF4-FFF2-40B4-BE49-F238E27FC236}">
                <a16:creationId xmlns:a16="http://schemas.microsoft.com/office/drawing/2014/main" id="{87DCBB25-B460-436D-BFB5-ADBF6E23A0CD}"/>
              </a:ext>
            </a:extLst>
          </p:cNvPr>
          <p:cNvSpPr>
            <a:spLocks noGrp="1"/>
          </p:cNvSpPr>
          <p:nvPr/>
        </p:nvSpPr>
        <p:spPr>
          <a:xfrm>
            <a:off x="8296275" y="4610100"/>
            <a:ext cx="523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2433"/>
                </a:solidFill>
                <a:latin typeface="Arial"/>
                <a:ea typeface="Arial"/>
                <a:cs typeface="Arial"/>
              </a:rPr>
              <a:t>Security &amp; Privacy</a:t>
            </a:r>
          </a:p>
        </p:txBody>
      </p:sp>
      <p:sp>
        <p:nvSpPr>
          <p:cNvPr id="35" name="native-539">
            <a:extLst>
              <a:ext uri="{FF2B5EF4-FFF2-40B4-BE49-F238E27FC236}">
                <a16:creationId xmlns:a16="http://schemas.microsoft.com/office/drawing/2014/main" id="{2454FF85-DD7D-4E15-AF26-C80811222181}"/>
              </a:ext>
            </a:extLst>
          </p:cNvPr>
          <p:cNvSpPr>
            <a:spLocks noGrp="1"/>
          </p:cNvSpPr>
          <p:nvPr/>
        </p:nvSpPr>
        <p:spPr>
          <a:xfrm>
            <a:off x="8296275" y="5391150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6" name="native-540">
            <a:extLst>
              <a:ext uri="{FF2B5EF4-FFF2-40B4-BE49-F238E27FC236}">
                <a16:creationId xmlns:a16="http://schemas.microsoft.com/office/drawing/2014/main" id="{EF2DAEAF-9DAA-45C6-B897-8F4D77482E02}"/>
              </a:ext>
            </a:extLst>
          </p:cNvPr>
          <p:cNvSpPr>
            <a:spLocks noGrp="1"/>
          </p:cNvSpPr>
          <p:nvPr/>
        </p:nvSpPr>
        <p:spPr>
          <a:xfrm>
            <a:off x="8582025" y="5391150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Server-side capabilities and row-level access</a:t>
            </a:r>
          </a:p>
        </p:txBody>
      </p:sp>
      <p:sp>
        <p:nvSpPr>
          <p:cNvPr id="37" name="native-541">
            <a:extLst>
              <a:ext uri="{FF2B5EF4-FFF2-40B4-BE49-F238E27FC236}">
                <a16:creationId xmlns:a16="http://schemas.microsoft.com/office/drawing/2014/main" id="{F2235FCE-FD36-4CE7-833E-A65AC39ADBFA}"/>
              </a:ext>
            </a:extLst>
          </p:cNvPr>
          <p:cNvSpPr>
            <a:spLocks noGrp="1"/>
          </p:cNvSpPr>
          <p:nvPr/>
        </p:nvSpPr>
        <p:spPr>
          <a:xfrm>
            <a:off x="8296275" y="5790248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8" name="native-542">
            <a:extLst>
              <a:ext uri="{FF2B5EF4-FFF2-40B4-BE49-F238E27FC236}">
                <a16:creationId xmlns:a16="http://schemas.microsoft.com/office/drawing/2014/main" id="{71F4BA34-13E0-4D95-BD63-4C00900AEDEA}"/>
              </a:ext>
            </a:extLst>
          </p:cNvPr>
          <p:cNvSpPr>
            <a:spLocks noGrp="1"/>
          </p:cNvSpPr>
          <p:nvPr/>
        </p:nvSpPr>
        <p:spPr>
          <a:xfrm>
            <a:off x="8582025" y="5790248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Guest sessions are scoped to one invited Meeting</a:t>
            </a:r>
          </a:p>
        </p:txBody>
      </p:sp>
      <p:sp>
        <p:nvSpPr>
          <p:cNvPr id="39" name="native-543">
            <a:extLst>
              <a:ext uri="{FF2B5EF4-FFF2-40B4-BE49-F238E27FC236}">
                <a16:creationId xmlns:a16="http://schemas.microsoft.com/office/drawing/2014/main" id="{8CC371C2-2786-4789-8136-994524AD8D67}"/>
              </a:ext>
            </a:extLst>
          </p:cNvPr>
          <p:cNvSpPr>
            <a:spLocks noGrp="1"/>
          </p:cNvSpPr>
          <p:nvPr/>
        </p:nvSpPr>
        <p:spPr>
          <a:xfrm>
            <a:off x="8296275" y="6189345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0" name="native-544">
            <a:extLst>
              <a:ext uri="{FF2B5EF4-FFF2-40B4-BE49-F238E27FC236}">
                <a16:creationId xmlns:a16="http://schemas.microsoft.com/office/drawing/2014/main" id="{D6C24DB9-9307-4E8C-A3E4-A3139CF88474}"/>
              </a:ext>
            </a:extLst>
          </p:cNvPr>
          <p:cNvSpPr>
            <a:spLocks noGrp="1"/>
          </p:cNvSpPr>
          <p:nvPr/>
        </p:nvSpPr>
        <p:spPr>
          <a:xfrm>
            <a:off x="8582025" y="6189345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HTTPS / WSS, audit evidence and secure sessions</a:t>
            </a:r>
          </a:p>
        </p:txBody>
      </p:sp>
      <p:sp>
        <p:nvSpPr>
          <p:cNvPr id="41" name="native-545">
            <a:extLst>
              <a:ext uri="{FF2B5EF4-FFF2-40B4-BE49-F238E27FC236}">
                <a16:creationId xmlns:a16="http://schemas.microsoft.com/office/drawing/2014/main" id="{0EAF9E95-FE32-4CFE-B393-1BB5C26D35B3}"/>
              </a:ext>
            </a:extLst>
          </p:cNvPr>
          <p:cNvSpPr>
            <a:spLocks noGrp="1"/>
          </p:cNvSpPr>
          <p:nvPr/>
        </p:nvSpPr>
        <p:spPr>
          <a:xfrm>
            <a:off x="8296275" y="6588442"/>
            <a:ext cx="20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2A4D9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A4D94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2" name="native-546">
            <a:extLst>
              <a:ext uri="{FF2B5EF4-FFF2-40B4-BE49-F238E27FC236}">
                <a16:creationId xmlns:a16="http://schemas.microsoft.com/office/drawing/2014/main" id="{B26B085F-0FE8-42A9-A5BC-9E21510244CD}"/>
              </a:ext>
            </a:extLst>
          </p:cNvPr>
          <p:cNvSpPr>
            <a:spLocks noGrp="1"/>
          </p:cNvSpPr>
          <p:nvPr/>
        </p:nvSpPr>
        <p:spPr>
          <a:xfrm>
            <a:off x="8582025" y="6588442"/>
            <a:ext cx="4886325" cy="3038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A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A2433"/>
                </a:solidFill>
                <a:latin typeface="Arial"/>
                <a:ea typeface="Arial"/>
                <a:cs typeface="Arial"/>
              </a:rPr>
              <a:t>Audio consent, retention and recorded deletion</a:t>
            </a:r>
          </a:p>
        </p:txBody>
      </p:sp>
    </p:spTree>
    <p:extLst>
      <p:ext uri="{BB962C8B-B14F-4D97-AF65-F5344CB8AC3E}">
        <p14:creationId xmlns:p14="http://schemas.microsoft.com/office/powerpoint/2010/main" val="9248704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4396</Words>
  <Application>Microsoft Office PowerPoint</Application>
  <DocSecurity>0</DocSecurity>
  <PresentationFormat>Custom</PresentationFormat>
  <Paragraphs>558</Paragraphs>
  <Slides>43</Slides>
  <Notes>43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Khánh Phạm Gia</cp:lastModifiedBy>
  <cp:revision>10</cp:revision>
  <dcterms:created xsi:type="dcterms:W3CDTF">2026-10-11T15:33:22Z</dcterms:created>
  <dcterms:modified xsi:type="dcterms:W3CDTF">2026-10-15T15:37:27Z</dcterms:modified>
</cp:coreProperties>
</file>